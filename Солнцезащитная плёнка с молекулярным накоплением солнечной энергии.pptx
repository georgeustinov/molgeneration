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AB86FB-4ECD-4009-B68B-419C96E9FB99}">
  <a:tblStyle styleId="{48AB86FB-4ECD-4009-B68B-419C96E9FB9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Объяснение (40–90 секунд)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Проект рассматривает исследовательскую гипотезу: можно ли совместить в съёмной плёнке спектральную защиту и молекулярное накопление части поглощённой энергии. За три дня команда не создаёт косметический продукт и не доказывает безопасность. Её задача намного уже: построить воспроизводимый генератор кандидатных структур, связать его с несколькими оценщиками свойств и проверить, возникает ли вычислительное пересечение требований.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Обозначения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Нет специальных символов.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Научная оговорка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Иллюстрация концептуальна. Она не показывает готовое устройство, экспериментальный результат или конкретный химический механизм.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Источники не требуются для организационного содержания.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Image credit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Концептуальная иллюстрация создана OpenAI ImageGen для этой презентации. Текст и все подписи остаются редактируемыми.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Вопрос студентам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Какой результат за три дня будет научным, даже если пригодные кандидаты не найдутся?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Объяснение (40–90 секунд)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Цикл разделён на две физические стадии. На коже плёнка должна ослаблять UV и переводить часть молекул в более энергетическое метастабильное состояние. После снятия внешний активатор запускает обратную реакцию. Для большинства MOST-систем непосредственный продукт этой реакции — тепло. Если конечной целью служит электричество, архитектура должна включать отдельный термоэлектрический, электрохимический или иной преобразователь.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Обозначения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Нет специальных символов.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Научная оговорка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Концепция нанесения, снятия и повторного использования пока не подтверждена как работающая технология для кожи.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Orrego-Hernández J., Dreos A., Moth-Poulsen K. Engineering of Norbornadiene/Quadricyclane Photoswitches for Molecular Solar Thermal Energy Storage Applications. Accounts of Chemical Research 53 (2020). DOI: 10.1021/acs.accounts.0c00235.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Image credit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Все схемы на слайде созданы как редактируемые объекты на основе указанных источников.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Вопрос студентам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На каком этапе цикла удобнее отделить требования к молекуле от требований к плёнке и устройству?</a:t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Объяснение (40–90 секунд)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Здесь баланс записан в два этапа. Сначала падающая энергия делится на отражённую, прошедшую и поглощённую. Затем только поглощённая энергия распределяется между теплом, люминесценцией, химическим запасом и другими каналами. Такое разделение не допускает двойного счёта. Для проекта важен рост химического канала без увеличения UV-пропускания к коже.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Обозначения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E_inc — падающая энергия; E_refl — отражённая; E_trans — прошедшая; E_abs — поглощённая; E_heat — перешедшая в тепло; E_fluor — излучённая; E_chem — запасённая химически; E_other — прочие каналы. Все члены выражают энергию, например Дж.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Научная оговорка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Схема не задаёт численных долей и не утверждает, что все каналы независимы. Реальный баланс зависит от спектра, состава, толщины и морфологии плёнки.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Источники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Braslavsky S. E. et al. Glossary of terms used in photochemistry, 3rd edition. Pure and Applied Chemistry 83, 931–1014 (2011). DOI: 10.1351/PAC-REC-09-09-36.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Image credit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Все схемы созданы как редактируемые объекты на основе указанного источника.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Вопрос студентам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Как экспериментально отличить хорошее поглощение от хорошего химического накопления?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Объяснение (40–90 секунд)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Обе системы начинают с поглощения фотона, но полезный выход различается. Для UV-фильтра ключевой функцией служит безопасное рассеяние энергии при сохранении фотостабильности. MOST-молекула проходит фотоизомеризацию и оказывается в более высокоэнергетическом локальном минимуме. Разность энтальпий между изомерами можно высвободить при обратной реакции. Одна молекула теоретически может сочетать функции, но это создаёт сильные спектральные и кинетические компромиссы.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Обозначения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S₀ и S₁ — основное и возбуждённое электронные состояния; hν — энергия фотона; ΔH — энтальпийная разность между изомерами.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Научная оговорка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Диаграммы качественные. Безызлучательная релаксация также происходит в MOST-системе и снижает эффективность накопления.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Orrego-Hernández J., Dreos A., Moth-Poulsen K. Engineering of Norbornadiene/Quadricyclane Photoswitches for Molecular Solar Thermal Energy Storage Applications. Accounts of Chemical Research 53 (2020). DOI: 10.1021/acs.accounts.0c00235.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Braslavsky S. E. et al. Glossary of terms used in photochemistry, 3rd edition. Pure and Applied Chemistry 83, 931–1014 (2011). DOI: 10.1351/PAC-REC-09-09-36.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Image credit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Все схемы на слайде созданы как редактируемые объекты на основе указанных источников.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Вопрос студентам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Почему красное смещение поглощения может одновременно улучшить солнечное перекрытие и ухудшить другие параметры MOST?</a:t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Объяснение (40–90 секунд)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Norbornadiene фотохимически превращается в напряжённый quadricyclane. Обратная реакция запускается нагревом или ускоряется катализатором и высвобождает тепло Q. Две направленные реакции теперь записаны отдельно: это не равновесная двойная стрелка. Заместители настраивают спектр, квантовый выход, энергетическую плотность и время хранения.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Обозначения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NBD — norbornadiene; QC — quadricyclane; hν — поглощённый фотон; Δ — нагрев; Q — высвобождаемое тепло.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Научная оговорка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Показаны незамещённые каркасы. Кожная безопасность и пригодность конкретных производных не установлены.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Источники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Orrego-Hernández J., Dreos A., Moth-Poulsen K. Accounts of Chemical Research 53 (2020). DOI: 10.1021/acs.accounts.0c00235.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Mansø M. et al. Nature Communications 9, 1945 (2018). DOI: 10.1038/s41467-018-04230-8.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Jorner K. et al. Journal of Materials Chemistry A 5 (2017). DOI: 10.1039/C7TA04259K.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Image credit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2D-структуры: PubChem Compound Summary, Norbornadiene CID 8473 и Quadricyclane CID 78961, дата доступа 2026-09-13. Реакционная схема создана как редактируемые объекты.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Вопрос студентам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Какие заместители вы разрешите генератору менять, а какой реакционный каркас зафиксируете?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Объяснение (40–90 секунд)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Проект не обязан начинаться с идеи одной чудо-молекулы. Две функции можно объединить в одном каркасе, развести по ковалентной диаде, смеси, сокристаллу или матрице. Чем выше уровень организации, тем важнее морфология и межмолекулярные взаимодействия, но тем меньше информации содержится в одном SMILES. Команда должна явно определить, какой объект она генерирует и какие эффекты остаются вне модели.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Обозначения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Нет специальных символов.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Научная оговорка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Генерация отдельной малой молекулы не предсказывает поведение сокристалла или готовой плёнки без дополнительных моделей и данных.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Orrego-Hernández J., Dreos A., Moth-Poulsen K. Engineering of Norbornadiene/Quadricyclane Photoswitches for Molecular Solar Thermal Energy Storage Applications. Accounts of Chemical Research 53 (2020). DOI: 10.1021/acs.accounts.0c00235.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Nitulescu G. et al. Ultraviolet Filters for Cosmetic Applications. Cosmetics 10, 101 (2023). DOI: 10.3390/cosmetics10040101.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Image credit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Все схемы на слайде созданы как редактируемые объекты на основе указанных источников.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Вопрос студентам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Какой объект даёт лучший баланс между физическим смыслом и доступностью данных за три дня?</a:t>
            </a:r>
            <a:endParaRPr/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Объяснение (40–90 секунд)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Закон Бугера–Ламберта–Бера связывает оптическую плотность с молярным коэффициентом поглощения, концентрацией и длиной пути. Он даёт удобный быстрый оценщик спектрального пропускания. Для реальной плёнки это только первое приближение: толщина неодинакова, присутствуют границы фаз, кристаллы и рассеяние. Поэтому вычислительная модель должна маркировать, где она использует растворный спектр вместо плёночного.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Обозначения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A(λ) — безразмерная оптическая плотность; ε(λ) — молярный коэффициент поглощения, L·mol⁻¹·cm⁻¹; c — mol·L⁻¹; l — cm; T — доля пропущенного света; f_abs — доля поглощённого света.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Научная оговорка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Формулы не учитывают отражение и рассеяние. Для неоднородной плёнки требуется измеренное T(λ), R(λ) или более полная оптическая модель.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Diffey B. et al. In vitro assessment of the broad-spectrum ultraviolet protection of sunscreen products. Journal of the American Academy of Dermatology 43 (2000). DOI: 10.1067/mjd.2000.109291.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Braslavsky S. E. et al. Glossary of terms used in photochemistry, 3rd edition. Pure and Applied Chemistry 83, 931–1014 (2011). DOI: 10.1351/PAC-REC-09-09-36.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Image credit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Все схемы на слайде созданы как редактируемые объекты на основе указанных источников.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Вопрос студентам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Какая ошибка появится, если подставить растворный ε(λ) в расчёт реальной кристаллизующейся плёнки?</a:t>
            </a:r>
            <a:endParaRPr/>
          </a:p>
        </p:txBody>
      </p:sp>
      <p:sp>
        <p:nvSpPr>
          <p:cNvPr id="149" name="Google Shape;14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Объяснение (40–90 секунд)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Для зарядки MOST важно интегральное перекрытие поглощения с солнечным спектром. I_abs — поглощённая облучённость, а не полная мощность устройства. Спектральную поглощённую облучённость можно перевести в поток фотонов на единицу площади и диапазона длин волн. Это устраняет прежнее несоответствие между обозначением мощности и единицами W·m⁻².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Обозначения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I_abs — поглощённая облучённость, W·m⁻²; Iλ и I_abs,λ — спектральные облучённости, W·m⁻²·nm⁻¹; T и R — безразмерные доли пропускания и отражения; h — постоянная Планка; c — скорость света; λ — длина волны; Ṅ_ph(λ) — спектральный поток фотонов, photons·m⁻²·s⁻¹·nm⁻¹.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Научная оговорка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Нужны единообразные единицы λ. Формула не учитывает quantum yield, PSS и обратное фотопревращение.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Источники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Orrego-Hernández J. et al. Accounts of Chemical Research 53 (2020). DOI: 10.1021/acs.accounts.0c00235.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Braslavsky S. E. et al. Pure and Applied Chemistry 83 (2011). DOI: 10.1351/PAC-REC-09-09-36.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Image credit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Все схемы созданы как редактируемые объекты.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Вопрос студентам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Почему максимум ε(λ) не определяет скорость фотозарядки под солнцем?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2" name="Google Shape;17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Объяснение (40–90 секунд)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Спектральную защиту можно приблизительно оценить через эритемно-взвешенное пропускание в диапазоне 290–400 нм. Это screening proxy. Реальный SPF определяется для готового продукта при стандартизованном нанесении и зависит от состава, толщины, высыхания и неоднородности плёнки. Поэтому SPF нельзя присвоить отдельному SMILES.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Обозначения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E_ery(λ) — эритемная весовая функция; I(λ) — спектр источника; T(λ) — пропускание готовой плёнки; пределы интегрирования — 290–400 нм. SPF_spec безразмерен.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Научная оговорка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Формула не заменяет in vivo определение SPF по ISO 24444:2019.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Источники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Diffey B. et al. Journal of the American Academy of Dermatology 43 (2000). DOI: 10.1067/mjd.2000.109291.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ISO 24444:2019. Cosmetics — Sun protection test methods — In vivo determination of SPF.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Image credit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Все схемы созданы как редактируемые объекты.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Вопрос студентам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Какие свойства формуляции способны изменить SPF при неизменной структуре фильтра?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2" name="Google Shape;19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Объяснение (40–90 секунд)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Critical wavelength описывает положение 90% площади под кривой поглощения между 290 и 400 нм. Порог λc ≥ 370 нм является конкретным критерием broad spectrum в правилах FDA, а не универсальной заменой UVA-PF. UVA-PF определяют стандартизованно для готовой плёнки, включая состояние после облучения.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Обозначения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A(λ) — спектральная оптическая плотность; λc — длина волны, ниже которой находится 90% интегральной площади A(λ) от 290 до 400 нм.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Научная оговорка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Высокая λc возможна и при слабом абсолютном поглощении. Для UVA-PF применяют действующую процедуру ISO 24443.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Источники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Diffey B. et al. Journal of the American Academy of Dermatology 43 (2000). DOI: 10.1067/mjd.2000.109291.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Matts P. J. et al. International Journal of Cosmetic Science 32 (2010). DOI: 10.1111/j.1468-2494.2009.00542.x.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ISO 24443:2021.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U.S. FDA. 21 CFR §201.327(j), Broad spectrum test procedure. https://www.ecfr.gov/current/title-21/section-201.327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Image credit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Все схемы созданы как редактируемые объекты.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Вопрос студентам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Может ли материал иметь λc выше 370 нм и при этом давать низкую защиту?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2" name="Google Shape;21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Объяснение (40–90 секунд)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Quantum yield показывает, какая доля поглощённых фотонов вызвала нужное превращение. При непрерывном облучении прямое и обратное фотопревращения конкурируют, формируя photostationary state. В уточнённой формуле все квантовые выходы и коэффициенты поглощения явно зависят от длины волны.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Обозначения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Φ_A→B(λ) и Φ_B→A(λ) — квантовые выходы; ε_A(λ) и ε_B(λ) — молярные коэффициенты поглощения; x_B^PSS(λ) — мольная доля B в PSS для монохроматического случая.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Научная оговорка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Для солнечного спектра требуется интегрирование по λ и учёт побочных каналов, интенсивности и внутреннего фильтра.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Источники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Orrego-Hernández J. et al. Accounts of Chemical Research 53 (2020). DOI: 10.1021/acs.accounts.0c00235.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Mansø M. et al. Nature Communications 9 (2018). DOI: 10.1038/s41467-018-04230-8.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Braslavsky S. E. et al. Pure and Applied Chemistry 83 (2011). DOI: 10.1351/PAC-REC-09-09-36.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Image credit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Все схемы созданы как редактируемые объекты.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Вопрос студентам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Что произойдёт с PSS, если QC сильно поглощает на той же длине волны?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5" name="Google Shape;23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Объяснение (40–90 секунд)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Теоретическая энергия определяется количеством метастабильного изомера и энтальпией обратной реакции. Гравиметрическая плотность растёт при высокой конверсии и большой ΔH, но уменьшается с молярной массой. Это объясняет, почему тяжёлые заместители, полезные для красного смещения, могут снижать энергию на килограмм. Эффективность хранения дополнительно сравнивает запас с реально поглощённой энергией.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Обозначения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n_B — количество B, mol; ΔH_B−A — молярная энтальпия обратного превращения, J·mol⁻¹; M — kg·mol⁻¹; ρ_E^(m) — J·kg⁻¹; η_store — безразмерная эффективность.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Научная оговорка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Формула даёт теоретическую плотность активного вещества. Масса матрицы, растворителя, подложки и преобразователя уменьшит системную плотность энергии.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Orrego-Hernández J., Dreos A., Moth-Poulsen K. Engineering of Norbornadiene/Quadricyclane Photoswitches for Molecular Solar Thermal Energy Storage Applications. Accounts of Chemical Research 53 (2020). DOI: 10.1021/acs.accounts.0c00235.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Mansø M. et al. Molecular solar thermal energy storage in photoswitch oligomers increases energy densities and storage times. Nature Communications 9, 1945 (2018). DOI: 10.1038/s41467-018-04230-8.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Jorner K. et al. Unraveling factors leading to efficient norbornadiene–quadricyclane molecular solar-thermal energy storage systems. Journal of Materials Chemistry A 5 (2017). DOI: 10.1039/C7TA04259K.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Image credit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Все схемы на слайде созданы как редактируемые объекты на основе указанных источников.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Вопрос студентам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Почему кандидат с максимальной ΔH может проиграть по энергии всей плёнки?</a:t>
            </a:r>
            <a:endParaRPr/>
          </a:p>
        </p:txBody>
      </p:sp>
      <p:sp>
        <p:nvSpPr>
          <p:cNvPr id="259" name="Google Shape;259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Объяснение (40–90 секунд)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Метастабильный изомер должен пережить время ношения на тёплой коже, но затем быстро вернуться после активации. Arrhenius и Eyring связывают скорость обратной реакции с температурой и барьером. Для генератора полезно задавать окно, а не максимизировать барьер без ограничения. Слишком стабильный QC усложнит контролируемое высвобождение, а слишком нестабильный будет разряжаться прямо на коже.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Обозначения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k — константа первого порядка, s⁻¹; A — предэкспоненциальный множитель, s⁻¹; E_a — J·mol⁻¹; R — J·mol⁻¹·K⁻¹; T — K; t₁/₂ — s; k_B — постоянная Больцмана; h — постоянная Планка; ΔG‡ — J·mol⁻¹.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Научная оговорка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Кинетика может отклоняться от первого порядка в твёрдой плёнке, при агрегации или катализе.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Orrego-Hernández J., Dreos A., Moth-Poulsen K. Engineering of Norbornadiene/Quadricyclane Photoswitches for Molecular Solar Thermal Energy Storage Applications. Accounts of Chemical Research 53 (2020). DOI: 10.1021/acs.accounts.0c00235.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Mansø M. et al. Molecular solar thermal energy storage in photoswitch oligomers increases energy densities and storage times. Nature Communications 9, 1945 (2018). DOI: 10.1038/s41467-018-04230-8.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Jorner K. et al. Unraveling factors leading to efficient norbornadiene–quadricyclane molecular solar-thermal energy storage systems. Journal of Materials Chemistry A 5 (2017). DOI: 10.1039/C7TA04259K.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Image credit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Все схемы на слайде созданы как редактируемые объекты на основе указанных источников.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Вопрос студентам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Как сформулировать целевое окно t₁/₂ для дневного ношения и вечерней активации?</a:t>
            </a:r>
            <a:endParaRPr/>
          </a:p>
        </p:txBody>
      </p:sp>
      <p:sp>
        <p:nvSpPr>
          <p:cNvPr id="279" name="Google Shape;279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Объяснение (40–90 секунд)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Cycle life следует связывать не только с сохранением UV–Vis, но и с извлекаемой энергией и составом. Поэтому R_N теперь явно определён как отношение извлекаемой энергии после N-го цикла к исходной. Независимо нужны LC–MS, NMR и материальный баланс: малые доли фотопродуктов могут накапливаться без заметного изменения спектра.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Обозначения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C(t) — концентрация исходного вещества; C₀ — начальная концентрация; k_deg — эффективная константа деградации; E_N — извлекаемая энергия после N-го цикла; E₀ — исходная извлекаемая энергия; R_N = E_N/E₀.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Научная оговорка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Экспоненциальная деградация — первое приближение. Если основной показатель другой, команда должна назвать его и единицы вместо универсального символа Q.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Источники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Orrego-Hernández J. et al. Accounts of Chemical Research 53 (2020). DOI: 10.1021/acs.accounts.0c00235.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Mansø M. et al. Nature Communications 9 (2018). DOI: 10.1038/s41467-018-04230-8.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Braslavsky S. E. et al. Pure and Applied Chemistry 83 (2011). DOI: 10.1351/PAC-REC-09-09-36.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Image credit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Все схемы созданы как редактируемые объекты.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Вопрос студентам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Какую экспериментальную величину вы положите в E_N?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1" name="Google Shape;301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Объяснение (40–90 секунд)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Спектр и защитная способность меняются при переходе от раствора к плёнке. Неравномерная толщина создаёт локальные окна, кристаллизация сдвигает и уширяет полосы, вода и кожный жир меняют среду, а механические деформации нарушают непрерывность. Коэффициент вариации толщины служит простой метрикой равномерности, но не описывает размер и расположение дефектов.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Обозначения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h̄ — средняя толщина плёнки, например µm; σ_h — стандартное отклонение толщины в тех же единицах; CV_h — безразмерный коэффициент вариации.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Научная оговорка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CV_h нельзя надёжно получить из SMILES. Нужны данные о формуляции, процессе нанесения и пространственные измерения.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Diffey B. et al. In vitro assessment of the broad-spectrum ultraviolet protection of sunscreen products. Journal of the American Academy of Dermatology 43 (2000). DOI: 10.1067/mjd.2000.109291.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Nitulescu G. et al. Ultraviolet Filters for Cosmetic Applications. Cosmetics 10, 101 (2023). DOI: 10.3390/cosmetics10040101.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Image credit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Все схемы на слайде созданы как редактируемые объекты на основе указанных источников.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Вопрос студентам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Какая пространственная характеристика дефектов потеряется при использовании только CV_h?</a:t>
            </a:r>
            <a:endParaRPr/>
          </a:p>
        </p:txBody>
      </p:sp>
      <p:sp>
        <p:nvSpPr>
          <p:cNvPr id="327" name="Google Shape;32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Объяснение (40–90 секунд)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Закон Фика даёт первое приближение для стационарного потока через барьер. Но коэффициенты распределения и диффузии зависят от состояния кожи, носителя, концентрации и взаимодействий с роговым слоем. QSAR и молекулярная динамика полезны для ранжирования риска, однако они не устанавливают отсутствие раздражения или фототоксичности. Эти конечные точки требуют валидированных методов и анализа продуктов облучения.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Обозначения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J — поток, mol·m⁻²·s⁻¹; D — m²·s⁻¹; C — mol·m⁻³; x и L — m; K_p — m·s⁻¹; K — безразмерный коэффициент распределения; ΔC — mol·m⁻³.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Научная оговорка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Параметры нельзя надёжно вывести только из молекулярной формулы. Безопасность не должна становиться бинарным ML-ярлыком без области применимости.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Martinez R. M., Rosado C., Baby A. R. Methods for cutaneous penetration assessment of organic UV filters: a review. Biomedical and Biopharmaceutical Research 20 (2023). DOI: 10.19277/bbr.20.1.307.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OECD. Test No. 428: Skin Absorption: In Vitro Method. OECD Guidelines for the Testing of Chemicals, Section 4. DOI: 10.1787/9789264071087-en.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OECD. Test No. 432: In Vitro 3T3 NRU Phototoxicity Test. OECD Guidelines for the Testing of Chemicals, Section 4. DOI: 10.1787/9789264071162-en.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Image credit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Все схемы на слайде созданы как редактируемые объекты на основе указанных источников.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Вопрос студентам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Какие данные о формуляции нужны, чтобы расчёт K_p имел физический смысл?</a:t>
            </a:r>
            <a:endParaRPr/>
          </a:p>
        </p:txBody>
      </p:sp>
      <p:sp>
        <p:nvSpPr>
          <p:cNvPr id="355" name="Google Shape;355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8" name="Google Shape;378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Объяснение (40–90 секунд)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Полный список требований нельзя честно свести к одной точно измеренной функции. Некоторые свойства относятся к молекуле, другие к плёнке, устройству или безопасности продукта. Поэтому команда должна разделить hard constraints, оптимизируемые proxies и критерии, которые проверяются только после генерации. На трёхдневном этапе достаточно выбрать два–четыре операционализируемых свойства и показать, почему они связаны с общей системой.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Обозначения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Нет специальных символов.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Научная оговорка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Отсутствие модели для свойства не означает, что требование исчезает. Оно должно оставаться в карте рисков и плане последующей проверки.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Orrego-Hernández J., Dreos A., Moth-Poulsen K. Engineering of Norbornadiene/Quadricyclane Photoswitches for Molecular Solar Thermal Energy Storage Applications. Accounts of Chemical Research 53 (2020). DOI: 10.1021/acs.accounts.0c00235.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Nitulescu G. et al. Ultraviolet Filters for Cosmetic Applications. Cosmetics 10, 101 (2023). DOI: 10.3390/cosmetics10040101.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ISO 24444:2019. Cosmetics — Sun protection test methods — In vivo determination of the sun protection factor (SPF). International Organization for Standardization.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ISO 24443:2021. Cosmetics — Determination of sunscreen UVA photoprotection in vitro. International Organization for Standardization.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Martinez R. M., Rosado C., Baby A. R. Methods for cutaneous penetration assessment of organic UV filters: a review. Biomedical and Biopharmaceutical Research 20 (2023). DOI: 10.19277/bbr.20.1.307.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Image credit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Все схемы на слайде созданы как редактируемые объекты на основе указанных источников.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Вопрос студентам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Какое требование вы сделаете hard constraint уже на первом вычислительном этапе?</a:t>
            </a:r>
            <a:endParaRPr/>
          </a:p>
        </p:txBody>
      </p:sp>
      <p:sp>
        <p:nvSpPr>
          <p:cNvPr id="379" name="Google Shape;379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3" name="Google Shape;403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Объяснение (40–90 секунд)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Матрица теперь различает эталонное измерение, вычислительное ранжирование и proxy. Экспериментальные спектры, calorimetry/kinetics и photochemistry/LC–MS отмечены как основные источники данных. TD-DFT и DFT полезны для трендов и отбора после калибровки, но не объявлены окончательным доказательством. ML ускоряет triage только внутри applicability domain.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Обозначения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★ — основной источник свидетельства для указанного уровня; △ — proxy, triage или модель, требующая калибровки; AD — applicability domain.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Научная оговорка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Один метод не покрывает всю систему. Финальные SPF, UVA-PF, равномерность и токсикологические endpoints относятся к плёнке или продукту и требуют стандартизованных измерений.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Источники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Orrego-Hernández J. et al. DOI: 10.1021/acs.accounts.0c00235.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Nitulescu G. et al. DOI: 10.3390/cosmetics10040101.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ISO 24444:2019; ISO 24443:2021.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Martinez R. M. et al. DOI: 10.19277/bbr.20.1.307.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OECD TG 428; OECD TG 432.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Image credit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Таблица создана как редактируемый объект.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Вопрос студентам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Какой оценщик допустим в быстром цикле, а какой должен подтверждать top-20?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4" name="Google Shape;404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Объяснение (40–90 секунд)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Набор A содержит MOST/photoswitch-свойства, набор B — UV-, skin- или formulation-свойства. Запись {x_i} ∩ {x_j} = ∅ означает, что идентичные молекулы не имеют обеих групп меток в собранных таблицах. Она не означает, что поддержки химических распределений непременно не пересекаются. Именно неизвестное перекрытие является исследовательским риском.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Обозначения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x — молекулярная структура; y^A и y^B — группы свойств; n_A и n_B — размеры наборов; {x_i} и {x_j} — множества идентификаторов молекул в двух таблицах.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Научная оговорка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Два отдельно обученных эксперта не идентифицируют совместное распределение без дополнительных предположений, общих признаков или bridge-данных.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Источники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Mailoa J. P. et al. Digital Discovery 2 (2023). DOI: 10.1039/D3DD00064H.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Yoshizawa T. et al. Nature Communications 16 (2025). DOI: 10.1038/s41467-025-57582-3.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Image credit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Диаграмма создана как редактируемые объекты.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Вопрос студентам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Как проверить, что найденное пересечение лежит внутри AD обоих экспертов?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5" name="Google Shape;415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3" name="Google Shape;433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Объяснение (40–90 секунд)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Целевая запись описывает желаемое условное распределение кандидатов. Проблема не в том, что вероятность сама «не наблюдается», а в почти полном отсутствии совместных пар меток y^A и y^B для одной структуры x. Поэтому joint suitability частично неидентифицируема и зависит от предположений, неопределённости экспертов и domain shift.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Обозначения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p_θ — распределение генератора; Ω_A и Ω_B — допустимые области свойств; y^A и y^B — группы свойств; AD — applicability domain.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Научная оговорка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Высокий joint score вне AD не является доказательством пригодности. Возможен и пустой feasible set при выбранных ограничениях.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Источники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Mailoa J. P. et al. DOI: 10.1039/D3DD00064H.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Yoshizawa T. et al. DOI: 10.1038/s41467-025-57582-3.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Liu X. et al. DOI: 10.1186/s13321-021-00561-9.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Brookes D. et al. ICML 2019.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Image credit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Pipeline создан как редактируемые объекты.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Вопрос студентам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Какое предположение позволяет объединять отдельно обученных экспертов?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4" name="Google Shape;434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6" name="Google Shape;456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Объяснение (40–90 секунд)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Задание намеренно не фиксирует генератор. При трёх днях и ограничении в 2–4 часа обучения простой genetic search или малая RNN могут быть сильнее тяжёлой модели. Diffusion и GFlowNet допустимы только в малом или предобученном варианте либо при наличии готовой воспроизводимой реализации. Обратная связь возможна без RL: rejection sampling, CbAS, weighted retraining, Bayesian optimization или post-generation filtering.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Обозначения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Нет специальных символов.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Научная оговорка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Название современной архитектуры не является вкладом. Оцениваются соответствие данным, честный baseline, вычислительный бюджет и проверяемая гипотеза.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Источники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Mailoa J. P. et al. DOI: 10.1039/D3DD00064H.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Yoshizawa T. et al. DOI: 10.1038/s41467-025-57582-3.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Liu X. et al. DOI: 10.1186/s13321-021-00561-9.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Brookes D. et al. ICML 2019.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Image credit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Все блоки созданы как редактируемые объекты.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Вопрос студентам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Какую архитектуру вы выберете при лимите двух часов и отсутствии совместных меток?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57" name="Google Shape;457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3" name="Google Shape;473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Объяснение (40–90 секунд)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Definition of done состоит из работающего генератора и доказательного анализа. Команда должна получить не менее 500–1000 уникальных кандидатов, сравнить с baseline и показать, сколько молекул одновременно проходит выбранные критерии. Не требуется моделировать все свойства санскрина. Требуется выбрать два–четыре свойства, объяснить источники данных и честно обозначить оставшиеся риски.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Обозначения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Нет специальных символов.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Научная оговорка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Список кандидатов без baseline, оценки новизны, разнообразия и области применимости не считается исследовательским результатом.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Ertl P., Schuffenhauer A. Estimation of synthetic accessibility score of drug-like molecules based on molecular complexity and fragment contributions. Journal of Cheminformatics 1, 8 (2009). DOI: 10.1186/1758-2946-1-8.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Brown N. et al. GuacaMol: Benchmarking Models for de Novo Molecular Design. Journal of Chemical Information and Modeling 59, 1096–1108 (2019). DOI: 10.1021/acs.jcim.8b00839.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Image credit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Все схемы на слайде созданы как редактируемые объекты на основе указанных источников.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Вопрос студентам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Какие четыре свойства вы выберете так, чтобы два представляли D_A, а два — D_B?</a:t>
            </a:r>
            <a:endParaRPr/>
          </a:p>
        </p:txBody>
      </p:sp>
      <p:sp>
        <p:nvSpPr>
          <p:cNvPr id="474" name="Google Shape;474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8" name="Google Shape;488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Объяснение (40–90 секунд)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 первый день команда фиксирует данные, разбиение, baseline и быстрые оценщики. Во второй день запускает генератор и проверяет объединение критериев. Третий день отводится на абляции, анализ ошибок и короткую защиту. Дорогие квантово-химические расчёты нельзя применять к тысячам структур. Их роль — перепроверка малого top-набора, если команда успевает.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Обозначения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Нет специальных символов.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Научная оговорка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Время обучения не включает однократную загрузку открытых данных и подготовку окружения, но полный pipeline должен быть воспроизводим.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Mailoa J. P. et al. Multi-constraint molecular generation using sparsely labelled training data. Digital Discovery 2 (2023). DOI: 10.1039/D3DD00064H.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Brookes D., Park H., Listgarten J. Conditioning by Adaptive Sampling for Robust Design. Proceedings of ICML 2019, PMLR 97, 773–782.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Image credit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Все схемы на слайде созданы как редактируемые объекты на основе указанных источников.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Вопрос студентам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Что вы исключите первым, если к середине второго дня генератор ещё не даёт валидные структуры?</a:t>
            </a:r>
            <a:endParaRPr/>
          </a:p>
        </p:txBody>
      </p:sp>
      <p:sp>
        <p:nvSpPr>
          <p:cNvPr id="489" name="Google Shape;489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9" name="Google Shape;509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Объяснение (40–90 секунд)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Большая часть баллов относится к работоспособности, воспроизводимости и многокритериальной постановке. Архитектурная сложность отдельно не награждается. Команда с простым поиском может получить высокий балл, если сравнение корректно и ограничения прозрачны. Интерфейс можно добавить, но он не заменяет baseline, метрики и анализ ошибок.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Обозначения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Нет специальных символов.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Научная оговорка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Одинаковая рубрика применяется к разным архитектурам. Преподаватель оценивает качество аргумента и проверки в пределах выбранного масштаба.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Источники не требуются для организационного содержания.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Image credit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Все схемы на слайде созданы как редактируемые объекты на основе указанных источников.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Вопрос студентам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Какой пункт рубрики сложнее всего подтвердить количественно за три дня?</a:t>
            </a:r>
            <a:endParaRPr/>
          </a:p>
        </p:txBody>
      </p:sp>
      <p:sp>
        <p:nvSpPr>
          <p:cNvPr id="510" name="Google Shape;510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9" name="Google Shape;519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Объяснение (40–90 секунд)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Две абляции должны проверять сформулированную гипотезу. Например, сравнение product и minimum проверяет чувствительность к функции пересечения, а отключение AD-фильтра показывает, возникает ли joint success за счёт экстраполяции. Допустимы три исхода: устойчивое пересечение, пересечение только вне областей применимости или отсутствие найденного пересечения. Последние два исхода также научно полезны при доказательном анализе.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Обозначения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Нет специальных символов.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Научная оговорка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Не найденное пересечение не доказывает физическую невозможность. Оно ограничено данными, генератором, оценщиками и выбранным бюджетом.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Mailoa J. P. et al. Multi-constraint molecular generation using sparsely labelled training data. Digital Discovery 2 (2023). DOI: 10.1039/D3DD00064H.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Yoshizawa T. et al. A data-driven generative strategy to avoid reward hacking in multi-objective molecular design. Nature Communications 16 (2025). DOI: 10.1038/s41467-025-57582-3.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Liu X. et al. DrugEx v2: de novo design of drug molecules by Pareto-based multi-objective reinforcement learning. Journal of Cheminformatics 13 (2021). DOI: 10.1186/s13321-021-00561-9.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Image credit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Все схемы на слайде созданы как редактируемые объекты на основе указанных источников.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Вопрос студентам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Какая абляция отличит несовместимость требований от reward hacking?</a:t>
            </a:r>
            <a:endParaRPr/>
          </a:p>
        </p:txBody>
      </p:sp>
      <p:sp>
        <p:nvSpPr>
          <p:cNvPr id="520" name="Google Shape;520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2" name="Google Shape;542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Объяснение (40–90 секунд)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Источники вынесены на отдельный слайд по теме, чтобы DOI и названия читались с экрана. Этот блок покрывает MOST, NBD–QC и терминологию фотохимии.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Обозначения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MOST — molecular solar thermal energy storage; NBD — norbornadiene; QC — quadricyclane.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Научная оговорка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Обзорные статьи задают контекст, но конкретные численные пороги следует брать из первичных данных для выбранных производных и среды.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Источники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Orrego-Hernández J., Dreos A., Moth-Poulsen K. Accounts of Chemical Research 53 (2020). DOI: 10.1021/acs.accounts.0c00235.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Mansø M. et al. Nature Communications 9, 1945 (2018). DOI: 10.1038/s41467-018-04230-8.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Jorner K. et al. Journal of Materials Chemistry A 5 (2017). DOI: 10.1039/C7TA04259K.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Braslavsky S. E. et al. Pure and Applied Chemistry 83 (2011). DOI: 10.1351/PAC-REC-09-09-36.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Image credit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Внешних иллюстраций на слайде нет.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Вопрос студентам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Какой источник задаёт термин, а какой — экспериментальный диапазон свойства?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43" name="Google Shape;543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SLIDES_API1989847263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5" name="Google Shape;555;SLIDES_API1989847263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Объяснение (40–90 секунд)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Этот блок отделяет измерения солнцезащиты от молекулярных свойств. ISO 24444 относится к in vivo SPF, ISO 24443 — к in vitro UVA photoprotection. Порог critical wavelength 370 нм приведён с конкретной ссылкой на правило FDA.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Обозначения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SPF — sun protection factor; UVA-PF — UVA protection factor; λc — critical wavelength.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Научная оговорка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Доступ к полному тексту ISO может требовать лицензии. Перед лабораторной работой проверяют amendments и национальное принятие.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Источники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Diffey B. et al. DOI: 10.1067/mjd.2000.109291.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Matts P. J. et al. DOI: 10.1111/j.1468-2494.2009.00542.x.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Nitulescu G. et al. DOI: 10.3390/cosmetics10040101.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ISO 24444:2019; ISO 24443:2021.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U.S. FDA. 21 CFR §201.327(j).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Image credit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Внешних иллюстраций на слайде нет.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Вопрос студентам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Какой стандарт ограничивает интерпретацию вашего screening proxy?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56" name="Google Shape;556;SLIDES_API1989847263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0" name="Google Shape;570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Объяснение (40–90 секунд)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Этот блок содержит методы генерации и оценки: sparse labels, reward hacking, Pareto-based optimization, adaptive sampling, synthetic accessibility и GuacaMol. Они служат отправными точками для baseline и абляций, а не обязательным стеком.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Обозначения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Нет специальных символов.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Научная оговорка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Сравнения между статьями нельзя переносить напрямую без унификации данных, budget, split и evaluator.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Источники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Mailoa J. P. et al. DOI: 10.1039/D3DD00064H.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Yoshizawa T. et al. DOI: 10.1038/s41467-025-57582-3.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Liu X. et al. DOI: 10.1186/s13321-021-00561-9.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Brookes D. et al. ICML 2019.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Ertl P., Schuffenhauer A. DOI: 10.1186/1758-2946-1-8.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Brown N. et al. DOI: 10.1021/acs.jcim.8b00839.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Image credit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Внешних иллюстраций на слайде нет.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Вопрос студентам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Какой baseline проще всего воспроизвести за три дня?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71" name="Google Shape;571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SLIDES_API1989847263_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5" name="Google Shape;585;SLIDES_API1989847263_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Объяснение (40–90 секунд)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Этот блок объединяет источники по кожному проникновению, фототоксичности, фиксации вклада и происхождению показанных структур. PubChem CID добавлены, чтобы химические изображения были проверяемыми.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Обозначения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CID — PubChem Compound Identifier; CRediT — Contributor Roles Taxonomy.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Научная оговорка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PubChem подтверждает идентичность показанного каркаса, но не его пригодность для кожи. Правила авторства определяются вкладом и политикой организации.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Источники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Martinez R. M. et al. DOI: 10.19277/bbr.20.1.307.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OECD TG 428. DOI: 10.1787/9789264071087-en.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OECD TG 432. DOI: 10.1787/9789264071162-en.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NISO CRediT. https://credit.niso.org/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PubChem Norbornadiene CID 8473. https://pubchem.ncbi.nlm.nih.gov/compound/8473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PubChem Quadricyclane CID 78961. https://pubchem.ncbi.nlm.nih.gov/compound/78961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Image credit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Внешних иллюстраций на слайде нет; источники структур указаны как записи PubChem.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Вопрос студентам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Как документировать происхождение структуры и вклад участника так, чтобы результат можно было переиспользовать?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86" name="Google Shape;586;SLIDES_API1989847263_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i.org/10.1021/acs.accounts.0c00235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i.org/10.1351/PAC-REC-09-09-36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i.org/10.1021/acs.accounts.0c00235" TargetMode="External"/><Relationship Id="rId4" Type="http://schemas.openxmlformats.org/officeDocument/2006/relationships/hyperlink" Target="https://doi.org/10.1351/PAC-REC-09-09-36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hyperlink" Target="https://pubchem.ncbi.nlm.nih.gov/compound/78961" TargetMode="External"/><Relationship Id="rId5" Type="http://schemas.openxmlformats.org/officeDocument/2006/relationships/hyperlink" Target="https://doi.org/10.1021/acs.accounts.0c00235" TargetMode="External"/><Relationship Id="rId6" Type="http://schemas.openxmlformats.org/officeDocument/2006/relationships/hyperlink" Target="https://doi.org/10.1038/s41467-018-04230-8" TargetMode="External"/><Relationship Id="rId7" Type="http://schemas.openxmlformats.org/officeDocument/2006/relationships/hyperlink" Target="https://doi.org/10.1039/C7TA04259K" TargetMode="External"/><Relationship Id="rId8" Type="http://schemas.openxmlformats.org/officeDocument/2006/relationships/hyperlink" Target="https://pubchem.ncbi.nlm.nih.gov/compound/8473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i.org/10.1021/acs.accounts.0c00235" TargetMode="External"/><Relationship Id="rId4" Type="http://schemas.openxmlformats.org/officeDocument/2006/relationships/hyperlink" Target="https://doi.org/10.3390/cosmetics10040101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i.org/10.1067/mjd.2000.109291" TargetMode="External"/><Relationship Id="rId4" Type="http://schemas.openxmlformats.org/officeDocument/2006/relationships/hyperlink" Target="https://doi.org/10.1351/PAC-REC-09-09-36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i.org/10.1021/acs.accounts.0c00235" TargetMode="External"/><Relationship Id="rId4" Type="http://schemas.openxmlformats.org/officeDocument/2006/relationships/hyperlink" Target="https://doi.org/10.1351/PAC-REC-09-09-36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i.org/10.1067/mjd.2000.109291" TargetMode="External"/><Relationship Id="rId4" Type="http://schemas.openxmlformats.org/officeDocument/2006/relationships/hyperlink" Target="https://www.iso.org/standard/72250.html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oi.org/10.1067/mjd.2000.109291" TargetMode="External"/><Relationship Id="rId4" Type="http://schemas.openxmlformats.org/officeDocument/2006/relationships/hyperlink" Target="https://doi.org/10.1111/j.1468-2494.2009.00542.x" TargetMode="External"/><Relationship Id="rId5" Type="http://schemas.openxmlformats.org/officeDocument/2006/relationships/hyperlink" Target="https://www.iso.org/standard/75059.html" TargetMode="External"/><Relationship Id="rId6" Type="http://schemas.openxmlformats.org/officeDocument/2006/relationships/hyperlink" Target="https://www.ecfr.gov/current/title-21/section-201.327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i.org/10.1021/acs.accounts.0c00235" TargetMode="External"/><Relationship Id="rId4" Type="http://schemas.openxmlformats.org/officeDocument/2006/relationships/hyperlink" Target="https://doi.org/10.1038/s41467-018-04230-8" TargetMode="External"/><Relationship Id="rId5" Type="http://schemas.openxmlformats.org/officeDocument/2006/relationships/hyperlink" Target="https://doi.org/10.1351/PAC-REC-09-09-36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i.org/10.1021/acs.accounts.0c00235" TargetMode="External"/><Relationship Id="rId4" Type="http://schemas.openxmlformats.org/officeDocument/2006/relationships/hyperlink" Target="https://doi.org/10.1038/s41467-018-04230-8" TargetMode="External"/><Relationship Id="rId5" Type="http://schemas.openxmlformats.org/officeDocument/2006/relationships/hyperlink" Target="https://doi.org/10.1039/C7TA04259K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i.org/10.1021/acs.accounts.0c00235" TargetMode="External"/><Relationship Id="rId4" Type="http://schemas.openxmlformats.org/officeDocument/2006/relationships/hyperlink" Target="https://doi.org/10.1038/s41467-018-04230-8" TargetMode="External"/><Relationship Id="rId5" Type="http://schemas.openxmlformats.org/officeDocument/2006/relationships/hyperlink" Target="https://doi.org/10.1039/C7TA04259K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oi.org/10.1021/acs.accounts.0c00235" TargetMode="External"/><Relationship Id="rId4" Type="http://schemas.openxmlformats.org/officeDocument/2006/relationships/hyperlink" Target="https://doi.org/10.1038/s41467-018-04230-8" TargetMode="External"/><Relationship Id="rId5" Type="http://schemas.openxmlformats.org/officeDocument/2006/relationships/hyperlink" Target="https://doi.org/10.1351/PAC-REC-09-09-36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i.org/10.1067/mjd.2000.109291" TargetMode="External"/><Relationship Id="rId4" Type="http://schemas.openxmlformats.org/officeDocument/2006/relationships/hyperlink" Target="https://doi.org/10.3390/cosmetics10040101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i.org/10.19277/bbr.20.1.307" TargetMode="External"/><Relationship Id="rId4" Type="http://schemas.openxmlformats.org/officeDocument/2006/relationships/hyperlink" Target="https://doi.org/10.1787/9789264071087-en" TargetMode="External"/><Relationship Id="rId5" Type="http://schemas.openxmlformats.org/officeDocument/2006/relationships/hyperlink" Target="https://doi.org/10.1787/9789264071162-en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oi.org/10.1021/acs.accounts.0c00235" TargetMode="External"/><Relationship Id="rId4" Type="http://schemas.openxmlformats.org/officeDocument/2006/relationships/hyperlink" Target="https://doi.org/10.3390/cosmetics10040101" TargetMode="External"/><Relationship Id="rId5" Type="http://schemas.openxmlformats.org/officeDocument/2006/relationships/hyperlink" Target="https://www.iso.org/standard/72250.html" TargetMode="External"/><Relationship Id="rId6" Type="http://schemas.openxmlformats.org/officeDocument/2006/relationships/hyperlink" Target="https://www.iso.org/standard/75059.html" TargetMode="External"/><Relationship Id="rId7" Type="http://schemas.openxmlformats.org/officeDocument/2006/relationships/hyperlink" Target="https://doi.org/10.19277/bbr.20.1.307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oi.org/10.1021/acs.accounts.0c00235" TargetMode="External"/><Relationship Id="rId4" Type="http://schemas.openxmlformats.org/officeDocument/2006/relationships/hyperlink" Target="https://doi.org/10.3390/cosmetics10040101" TargetMode="External"/><Relationship Id="rId5" Type="http://schemas.openxmlformats.org/officeDocument/2006/relationships/hyperlink" Target="https://www.iso.org/standard/72250.html" TargetMode="External"/><Relationship Id="rId6" Type="http://schemas.openxmlformats.org/officeDocument/2006/relationships/hyperlink" Target="https://doi.org/10.19277/bbr.20.1.307" TargetMode="External"/><Relationship Id="rId7" Type="http://schemas.openxmlformats.org/officeDocument/2006/relationships/hyperlink" Target="https://doi.org/10.1787/9789264071087-en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oi.org/10.1039/D3DD00064H" TargetMode="External"/><Relationship Id="rId4" Type="http://schemas.openxmlformats.org/officeDocument/2006/relationships/hyperlink" Target="https://doi.org/10.1038/s41467-025-57582-3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oi.org/10.1039/D3DD00064H" TargetMode="External"/><Relationship Id="rId4" Type="http://schemas.openxmlformats.org/officeDocument/2006/relationships/hyperlink" Target="https://doi.org/10.1038/s41467-025-57582-3" TargetMode="External"/><Relationship Id="rId5" Type="http://schemas.openxmlformats.org/officeDocument/2006/relationships/hyperlink" Target="https://doi.org/10.1186/s13321-021-00561-9" TargetMode="External"/><Relationship Id="rId6" Type="http://schemas.openxmlformats.org/officeDocument/2006/relationships/hyperlink" Target="https://proceedings.mlr.press/v97/brookes19a.html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oi.org/10.1039/D3DD00064H" TargetMode="External"/><Relationship Id="rId4" Type="http://schemas.openxmlformats.org/officeDocument/2006/relationships/hyperlink" Target="https://doi.org/10.1038/s41467-025-57582-3" TargetMode="External"/><Relationship Id="rId5" Type="http://schemas.openxmlformats.org/officeDocument/2006/relationships/hyperlink" Target="https://doi.org/10.1186/s13321-021-00561-9" TargetMode="External"/><Relationship Id="rId6" Type="http://schemas.openxmlformats.org/officeDocument/2006/relationships/hyperlink" Target="https://proceedings.mlr.press/v97/brookes19a.html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oi.org/10.1186/1758-2946-1-8" TargetMode="External"/><Relationship Id="rId4" Type="http://schemas.openxmlformats.org/officeDocument/2006/relationships/hyperlink" Target="https://doi.org/10.1021/acs.jcim.8b00839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oi.org/10.1039/D3DD00064H" TargetMode="External"/><Relationship Id="rId4" Type="http://schemas.openxmlformats.org/officeDocument/2006/relationships/hyperlink" Target="https://proceedings.mlr.press/v97/brookes19a.html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oi.org/10.1039/D3DD00064H" TargetMode="External"/><Relationship Id="rId4" Type="http://schemas.openxmlformats.org/officeDocument/2006/relationships/hyperlink" Target="https://doi.org/10.1038/s41467-025-57582-3" TargetMode="External"/><Relationship Id="rId5" Type="http://schemas.openxmlformats.org/officeDocument/2006/relationships/hyperlink" Target="https://doi.org/10.1186/s13321-021-00561-9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oi.org/10.1021/acs.accounts.0c00235" TargetMode="External"/><Relationship Id="rId4" Type="http://schemas.openxmlformats.org/officeDocument/2006/relationships/hyperlink" Target="https://doi.org/10.1038/s41467-018-04230-8" TargetMode="External"/><Relationship Id="rId5" Type="http://schemas.openxmlformats.org/officeDocument/2006/relationships/hyperlink" Target="https://doi.org/10.1039/C7TA04259K" TargetMode="External"/><Relationship Id="rId6" Type="http://schemas.openxmlformats.org/officeDocument/2006/relationships/hyperlink" Target="https://doi.org/10.1351/PAC-REC-09-09-36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doi.org/10.1067/mjd.2000.109291" TargetMode="External"/><Relationship Id="rId4" Type="http://schemas.openxmlformats.org/officeDocument/2006/relationships/hyperlink" Target="https://doi.org/10.1111/j.1468-2494.2009.00542.x" TargetMode="External"/><Relationship Id="rId5" Type="http://schemas.openxmlformats.org/officeDocument/2006/relationships/hyperlink" Target="https://doi.org/10.3390/cosmetics10040101" TargetMode="External"/><Relationship Id="rId6" Type="http://schemas.openxmlformats.org/officeDocument/2006/relationships/hyperlink" Target="https://www.iso.org/standard/72250.html" TargetMode="External"/><Relationship Id="rId7" Type="http://schemas.openxmlformats.org/officeDocument/2006/relationships/hyperlink" Target="https://www.iso.org/standard/75059.html" TargetMode="External"/><Relationship Id="rId8" Type="http://schemas.openxmlformats.org/officeDocument/2006/relationships/hyperlink" Target="https://www.ecfr.gov/current/title-21/section-201.327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doi.org/10.1039/D3DD00064H" TargetMode="External"/><Relationship Id="rId4" Type="http://schemas.openxmlformats.org/officeDocument/2006/relationships/hyperlink" Target="https://doi.org/10.1038/s41467-025-57582-3" TargetMode="External"/><Relationship Id="rId5" Type="http://schemas.openxmlformats.org/officeDocument/2006/relationships/hyperlink" Target="https://doi.org/10.1186/s13321-021-00561-9" TargetMode="External"/><Relationship Id="rId6" Type="http://schemas.openxmlformats.org/officeDocument/2006/relationships/hyperlink" Target="https://proceedings.mlr.press/v97/brookes19a.html" TargetMode="External"/><Relationship Id="rId7" Type="http://schemas.openxmlformats.org/officeDocument/2006/relationships/hyperlink" Target="https://doi.org/10.1186/1758-2946-1-8" TargetMode="External"/><Relationship Id="rId8" Type="http://schemas.openxmlformats.org/officeDocument/2006/relationships/hyperlink" Target="https://doi.org/10.1021/acs.jcim.8b00839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doi.org/10.19277/bbr.20.1.307" TargetMode="External"/><Relationship Id="rId4" Type="http://schemas.openxmlformats.org/officeDocument/2006/relationships/hyperlink" Target="https://doi.org/10.1787/9789264071087-en" TargetMode="External"/><Relationship Id="rId5" Type="http://schemas.openxmlformats.org/officeDocument/2006/relationships/hyperlink" Target="https://doi.org/10.1787/9789264071162-en" TargetMode="External"/><Relationship Id="rId6" Type="http://schemas.openxmlformats.org/officeDocument/2006/relationships/hyperlink" Target="https://credit.niso.org/" TargetMode="External"/><Relationship Id="rId7" Type="http://schemas.openxmlformats.org/officeDocument/2006/relationships/hyperlink" Target="https://pubchem.ncbi.nlm.nih.gov/compound/8473" TargetMode="External"/><Relationship Id="rId8" Type="http://schemas.openxmlformats.org/officeDocument/2006/relationships/hyperlink" Target="https://pubchem.ncbi.nlm.nih.gov/compound/7896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A3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3">
            <a:alphaModFix/>
          </a:blip>
          <a:srcRect b="27" l="0" r="0" t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0" y="0"/>
            <a:ext cx="6667500" cy="6858000"/>
          </a:xfrm>
          <a:prstGeom prst="rect">
            <a:avLst/>
          </a:prstGeom>
          <a:solidFill>
            <a:srgbClr val="071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66750" y="1476375"/>
            <a:ext cx="5810250" cy="2076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Солнцезащитная плёнка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с молекулярным накоплением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солнечной энергии</a:t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95325" y="3810000"/>
            <a:ext cx="5334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A88CFF"/>
                </a:solidFill>
                <a:latin typeface="Verdana"/>
                <a:ea typeface="Verdana"/>
                <a:cs typeface="Verdana"/>
                <a:sym typeface="Verdana"/>
              </a:rPr>
              <a:t>Трёхдневное задание по генеративному молекулярному дизайну</a:t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95325" y="5105400"/>
            <a:ext cx="3714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C42D"/>
                </a:solidFill>
                <a:latin typeface="Verdana"/>
                <a:ea typeface="Verdana"/>
                <a:cs typeface="Verdana"/>
                <a:sym typeface="Verdana"/>
              </a:rPr>
              <a:t>Концептуальная иллюстрация • computational proof of concept</a:t>
            </a:r>
            <a:endParaRPr b="1" sz="1050">
              <a:solidFill>
                <a:srgbClr val="FFC42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609600" y="381000"/>
            <a:ext cx="10572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Исследовательская гипотеза: съёмный цикл</a:t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609600" y="1028700"/>
            <a:ext cx="1123950" cy="47625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11144250" y="447675"/>
            <a:ext cx="495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02</a:t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742950" y="2000250"/>
            <a:ext cx="1123950" cy="1123950"/>
          </a:xfrm>
          <a:prstGeom prst="ellipse">
            <a:avLst/>
          </a:prstGeom>
          <a:solidFill>
            <a:srgbClr val="1FB6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742950" y="2238375"/>
            <a:ext cx="1123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409575" y="3333750"/>
            <a:ext cx="17907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Нанесение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плёнки</a:t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2000250" y="2381250"/>
            <a:ext cx="647700" cy="2857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8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2952750" y="2000250"/>
            <a:ext cx="1123950" cy="1123950"/>
          </a:xfrm>
          <a:prstGeom prst="ellipse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2952750" y="2238375"/>
            <a:ext cx="1123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2619375" y="3333750"/>
            <a:ext cx="17907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Поглощение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UV</a:t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4210050" y="2381250"/>
            <a:ext cx="647700" cy="2857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8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5162550" y="2000250"/>
            <a:ext cx="1123950" cy="1123950"/>
          </a:xfrm>
          <a:prstGeom prst="ellipse">
            <a:avLst/>
          </a:prstGeom>
          <a:solidFill>
            <a:srgbClr val="FFC8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162550" y="2238375"/>
            <a:ext cx="1123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829175" y="3333750"/>
            <a:ext cx="17907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Метастабильное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состояние</a:t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6419850" y="2381250"/>
            <a:ext cx="647700" cy="2857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8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7372350" y="2000250"/>
            <a:ext cx="1123950" cy="1123950"/>
          </a:xfrm>
          <a:prstGeom prst="ellipse">
            <a:avLst/>
          </a:prstGeom>
          <a:solidFill>
            <a:srgbClr val="55D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7372350" y="2238375"/>
            <a:ext cx="1123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7038975" y="3333750"/>
            <a:ext cx="17907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Снятие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вечером</a:t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8629650" y="2381250"/>
            <a:ext cx="647700" cy="2857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8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9582150" y="2000250"/>
            <a:ext cx="1123950" cy="1123950"/>
          </a:xfrm>
          <a:prstGeom prst="ellipse">
            <a:avLst/>
          </a:prstGeom>
          <a:solidFill>
            <a:srgbClr val="F27D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9582150" y="2238375"/>
            <a:ext cx="1123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5</a:t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9248775" y="3333750"/>
            <a:ext cx="17907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Активация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в устройстве</a:t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1381125" y="4667250"/>
            <a:ext cx="9429750" cy="971550"/>
          </a:xfrm>
          <a:prstGeom prst="roundRect">
            <a:avLst>
              <a:gd fmla="val 7843" name="adj"/>
            </a:avLst>
          </a:prstGeom>
          <a:solidFill>
            <a:srgbClr val="071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666875" y="4829175"/>
            <a:ext cx="88582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Существующие MOST-системы высвобождают главным образом тепло.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Электричество потребует отдельного преобразователя.</a:t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609600" y="6400800"/>
            <a:ext cx="10953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[1] Orrego-Hernández et al., 2020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A3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609600" y="381000"/>
            <a:ext cx="10572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Баланс падающей и поглощённой энергии</a:t>
            </a:r>
            <a:endParaRPr b="1" sz="30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609600" y="1028700"/>
            <a:ext cx="1123950" cy="47625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11144250" y="447675"/>
            <a:ext cx="495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A88CFF"/>
                </a:solidFill>
                <a:latin typeface="Verdana"/>
                <a:ea typeface="Verdana"/>
                <a:cs typeface="Verdana"/>
                <a:sym typeface="Verdana"/>
              </a:rPr>
              <a:t>03</a:t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1047750" y="1524000"/>
            <a:ext cx="10096500" cy="876300"/>
          </a:xfrm>
          <a:prstGeom prst="roundRect">
            <a:avLst>
              <a:gd fmla="val 8696" name="adj"/>
            </a:avLst>
          </a:prstGeom>
          <a:solidFill>
            <a:srgbClr val="0D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1219200" y="1600200"/>
            <a:ext cx="9753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E_inc = E_refl + E_trans + E_abs</a:t>
            </a:r>
            <a:endParaRPr b="1" sz="18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E_abs = E_heat + E_fluor + E_chem + E_other</a:t>
            </a:r>
            <a:endParaRPr b="1" sz="18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952500" y="3238500"/>
            <a:ext cx="1524000" cy="914400"/>
          </a:xfrm>
          <a:prstGeom prst="rect">
            <a:avLst/>
          </a:prstGeom>
          <a:solidFill>
            <a:srgbClr val="55D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1009650" y="3400425"/>
            <a:ext cx="14097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отражение</a:t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2647950" y="3238500"/>
            <a:ext cx="1619250" cy="914400"/>
          </a:xfrm>
          <a:prstGeom prst="rect">
            <a:avLst/>
          </a:prstGeom>
          <a:solidFill>
            <a:srgbClr val="A8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2562225" y="3390825"/>
            <a:ext cx="17907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прохождение</a:t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4438650" y="3238500"/>
            <a:ext cx="1524000" cy="914400"/>
          </a:xfrm>
          <a:prstGeom prst="rect">
            <a:avLst/>
          </a:prstGeom>
          <a:solidFill>
            <a:srgbClr val="F27D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4495800" y="3400425"/>
            <a:ext cx="14097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тепло</a:t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6134100" y="3238500"/>
            <a:ext cx="1905000" cy="914400"/>
          </a:xfrm>
          <a:prstGeom prst="rect">
            <a:avLst/>
          </a:prstGeom>
          <a:solidFill>
            <a:srgbClr val="1FB6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6048300" y="3390825"/>
            <a:ext cx="20766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флуоресценция</a:t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8210550" y="3238500"/>
            <a:ext cx="2286000" cy="914400"/>
          </a:xfrm>
          <a:prstGeom prst="rect">
            <a:avLst/>
          </a:prstGeom>
          <a:solidFill>
            <a:srgbClr val="FFC8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8267700" y="3400425"/>
            <a:ext cx="21717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химический запас</a:t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1809750" y="4762500"/>
            <a:ext cx="857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Цель проекта: увеличить E_chem, не ухудшая спектральную защиту и безопасность</a:t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609600" y="6400800"/>
            <a:ext cx="10953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[16] IUPAC Photochemistry Glossary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609600" y="381000"/>
            <a:ext cx="10572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UV-фильтр и MOST-молекула</a:t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609600" y="1028700"/>
            <a:ext cx="1123950" cy="47625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11144250" y="447675"/>
            <a:ext cx="495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04</a:t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857250" y="1409700"/>
            <a:ext cx="4476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6D42E8"/>
                </a:solidFill>
                <a:latin typeface="Verdana"/>
                <a:ea typeface="Verdana"/>
                <a:cs typeface="Verdana"/>
                <a:sym typeface="Verdana"/>
              </a:rPr>
              <a:t>Органический UV-фильтр</a:t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6858000" y="1409700"/>
            <a:ext cx="4476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FB6AA"/>
                </a:solidFill>
                <a:latin typeface="Verdana"/>
                <a:ea typeface="Verdana"/>
                <a:cs typeface="Verdana"/>
                <a:sym typeface="Verdana"/>
              </a:rPr>
              <a:t>MOST-фотопереключатель</a:t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1524000" y="2266950"/>
            <a:ext cx="590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6D42E8"/>
                </a:solidFill>
                <a:latin typeface="Verdana"/>
                <a:ea typeface="Verdana"/>
                <a:cs typeface="Verdana"/>
                <a:sym typeface="Verdana"/>
              </a:rPr>
              <a:t>S₁</a:t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1524000" y="4333875"/>
            <a:ext cx="590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S₀</a:t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2143125" y="2400300"/>
            <a:ext cx="2286000" cy="47625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2143125" y="4457700"/>
            <a:ext cx="2286000" cy="47625"/>
          </a:xfrm>
          <a:prstGeom prst="rect">
            <a:avLst/>
          </a:prstGeom>
          <a:solidFill>
            <a:srgbClr val="071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2781300" y="2809875"/>
            <a:ext cx="361950" cy="13335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C8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3476625" y="2809875"/>
            <a:ext cx="361950" cy="1333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27D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2605088" y="2476500"/>
            <a:ext cx="7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C845"/>
                </a:solidFill>
                <a:latin typeface="Verdana"/>
                <a:ea typeface="Verdana"/>
                <a:cs typeface="Verdana"/>
                <a:sym typeface="Verdana"/>
              </a:rPr>
              <a:t>hν</a:t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3810000" y="3143250"/>
            <a:ext cx="1589100" cy="6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27D72"/>
                </a:solidFill>
                <a:latin typeface="Verdana"/>
                <a:ea typeface="Verdana"/>
                <a:cs typeface="Verdana"/>
                <a:sym typeface="Verdana"/>
              </a:rPr>
              <a:t>релаксация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27D72"/>
                </a:solidFill>
                <a:latin typeface="Verdana"/>
                <a:ea typeface="Verdana"/>
                <a:cs typeface="Verdana"/>
                <a:sym typeface="Verdana"/>
              </a:rPr>
              <a:t>и тепло</a:t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7477125" y="2400300"/>
            <a:ext cx="2381250" cy="47625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7477125" y="4457700"/>
            <a:ext cx="2381250" cy="47625"/>
          </a:xfrm>
          <a:prstGeom prst="rect">
            <a:avLst/>
          </a:prstGeom>
          <a:solidFill>
            <a:srgbClr val="071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8810625" y="3524250"/>
            <a:ext cx="1952625" cy="47625"/>
          </a:xfrm>
          <a:prstGeom prst="rect">
            <a:avLst/>
          </a:prstGeom>
          <a:solidFill>
            <a:srgbClr val="1FB6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7953375" y="2809875"/>
            <a:ext cx="361950" cy="13335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C8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9525000" y="3695700"/>
            <a:ext cx="361950" cy="647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FB6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8972550" y="3105150"/>
            <a:ext cx="171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1FB6AA"/>
                </a:solidFill>
                <a:latin typeface="Verdana"/>
                <a:ea typeface="Verdana"/>
                <a:cs typeface="Verdana"/>
                <a:sym typeface="Verdana"/>
              </a:rPr>
              <a:t>фотоизомер</a:t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8705850" y="4695825"/>
            <a:ext cx="2095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B6AA"/>
                </a:solidFill>
                <a:latin typeface="Verdana"/>
                <a:ea typeface="Verdana"/>
                <a:cs typeface="Verdana"/>
                <a:sym typeface="Verdana"/>
              </a:rPr>
              <a:t>ΔH сохраняется</a:t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609600" y="6400800"/>
            <a:ext cx="10953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[1] Orrego-Hernández et al., 2020</a:t>
            </a:r>
            <a:r>
              <a:rPr lang="en-US" sz="1125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[16] IUPAC Photochemistry Glossary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/>
          <p:nvPr/>
        </p:nvSpPr>
        <p:spPr>
          <a:xfrm>
            <a:off x="609600" y="381000"/>
            <a:ext cx="10572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NBD–QC как модельная система</a:t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609600" y="1028700"/>
            <a:ext cx="1123950" cy="47625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11144250" y="447675"/>
            <a:ext cx="495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05</a:t>
            </a:r>
            <a:endParaRPr/>
          </a:p>
        </p:txBody>
      </p:sp>
      <p:pic>
        <p:nvPicPr>
          <p:cNvPr id="107" name="Google Shape;10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625" y="1809750"/>
            <a:ext cx="247650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4875" y="1809750"/>
            <a:ext cx="2476500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7"/>
          <p:cNvSpPr/>
          <p:nvPr/>
        </p:nvSpPr>
        <p:spPr>
          <a:xfrm>
            <a:off x="1190625" y="4286250"/>
            <a:ext cx="24765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6D42E8"/>
                </a:solidFill>
                <a:latin typeface="Verdana"/>
                <a:ea typeface="Verdana"/>
                <a:cs typeface="Verdana"/>
                <a:sym typeface="Verdana"/>
              </a:rPr>
              <a:t>norbornadiene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6D42E8"/>
                </a:solidFill>
                <a:latin typeface="Verdana"/>
                <a:ea typeface="Verdana"/>
                <a:cs typeface="Verdana"/>
                <a:sym typeface="Verdana"/>
              </a:rPr>
              <a:t>NBD</a:t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8524875" y="4286250"/>
            <a:ext cx="24765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FB6AA"/>
                </a:solidFill>
                <a:latin typeface="Verdana"/>
                <a:ea typeface="Verdana"/>
                <a:cs typeface="Verdana"/>
                <a:sym typeface="Verdana"/>
              </a:rPr>
              <a:t>quadricyclane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FB6AA"/>
                </a:solidFill>
                <a:latin typeface="Verdana"/>
                <a:ea typeface="Verdana"/>
                <a:cs typeface="Verdana"/>
                <a:sym typeface="Verdana"/>
              </a:rPr>
              <a:t>QC</a:t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4095750" y="2667000"/>
            <a:ext cx="1524000" cy="5143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8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6572250" y="3524250"/>
            <a:ext cx="1524000" cy="51435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1FB6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4524375" y="222885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6D42E8"/>
                </a:solidFill>
                <a:latin typeface="Verdana"/>
                <a:ea typeface="Verdana"/>
                <a:cs typeface="Verdana"/>
                <a:sym typeface="Verdana"/>
              </a:rPr>
              <a:t>hν</a:t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6191250" y="4095750"/>
            <a:ext cx="2143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1FB6AA"/>
                </a:solidFill>
                <a:latin typeface="Verdana"/>
                <a:ea typeface="Verdana"/>
                <a:cs typeface="Verdana"/>
                <a:sym typeface="Verdana"/>
              </a:rPr>
              <a:t>Δ или катализатор</a:t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3048000" y="5095875"/>
            <a:ext cx="6096000" cy="666750"/>
          </a:xfrm>
          <a:prstGeom prst="roundRect">
            <a:avLst>
              <a:gd fmla="val 11429" name="adj"/>
            </a:avLst>
          </a:prstGeom>
          <a:solidFill>
            <a:srgbClr val="EA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3219450" y="5172075"/>
            <a:ext cx="5753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NBD  —hν→  QC          QC  —Δ / катализатор→  NBD + Q</a:t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609600" y="6400800"/>
            <a:ext cx="10953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[1]</a:t>
            </a:r>
            <a:r>
              <a:rPr lang="en-US" sz="850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</a:rPr>
              <a:t> Orrego-Hernández 2020   </a:t>
            </a:r>
            <a:r>
              <a:rPr lang="en-US" sz="8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[2]</a:t>
            </a:r>
            <a:r>
              <a:rPr lang="en-US" sz="850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</a:rPr>
              <a:t> Mansø 2018   </a:t>
            </a:r>
            <a:r>
              <a:rPr lang="en-US" sz="8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[3]</a:t>
            </a:r>
            <a:r>
              <a:rPr lang="en-US" sz="850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</a:rPr>
              <a:t> Jorner 2017   </a:t>
            </a:r>
            <a:r>
              <a:rPr lang="en-US" sz="8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[21]</a:t>
            </a:r>
            <a:r>
              <a:rPr lang="en-US" sz="850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</a:rPr>
              <a:t> PubChem NBD   </a:t>
            </a:r>
            <a:r>
              <a:rPr lang="en-US" sz="8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[22]</a:t>
            </a:r>
            <a:r>
              <a:rPr lang="en-US" sz="850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</a:rPr>
              <a:t> PubChem QC</a:t>
            </a:r>
            <a:endParaRPr sz="850">
              <a:solidFill>
                <a:srgbClr val="00A5A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/>
          <p:nvPr/>
        </p:nvSpPr>
        <p:spPr>
          <a:xfrm>
            <a:off x="609600" y="381000"/>
            <a:ext cx="10572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Объект проектирования пока не фиксирован</a:t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609600" y="1252488"/>
            <a:ext cx="1124100" cy="47700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11144250" y="447675"/>
            <a:ext cx="495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06</a:t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781050" y="1619250"/>
            <a:ext cx="3143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6D42E8"/>
                </a:solidFill>
                <a:latin typeface="Verdana"/>
                <a:ea typeface="Verdana"/>
                <a:cs typeface="Verdana"/>
                <a:sym typeface="Verdana"/>
              </a:rPr>
              <a:t>Одна молекула</a:t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781050" y="2114550"/>
            <a:ext cx="314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общий хромофор и photoswitch</a:t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781050" y="2838450"/>
            <a:ext cx="3048000" cy="38100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4591050" y="1619250"/>
            <a:ext cx="3143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FB6AA"/>
                </a:solidFill>
                <a:latin typeface="Verdana"/>
                <a:ea typeface="Verdana"/>
                <a:cs typeface="Verdana"/>
                <a:sym typeface="Verdana"/>
              </a:rPr>
              <a:t>Ковалентная диада</a:t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4591050" y="2114550"/>
            <a:ext cx="314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UV-хромофор связан с MOST</a:t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4591050" y="2838450"/>
            <a:ext cx="3048000" cy="38100"/>
          </a:xfrm>
          <a:prstGeom prst="rect">
            <a:avLst/>
          </a:prstGeom>
          <a:solidFill>
            <a:srgbClr val="1FB6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8401050" y="1619250"/>
            <a:ext cx="3143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27D72"/>
                </a:solidFill>
                <a:latin typeface="Verdana"/>
                <a:ea typeface="Verdana"/>
                <a:cs typeface="Verdana"/>
                <a:sym typeface="Verdana"/>
              </a:rPr>
              <a:t>Смесь</a:t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8401050" y="2114550"/>
            <a:ext cx="314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функции распределены между компонентами</a:t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8401050" y="2838450"/>
            <a:ext cx="3048000" cy="38100"/>
          </a:xfrm>
          <a:prstGeom prst="rect">
            <a:avLst/>
          </a:prstGeom>
          <a:solidFill>
            <a:srgbClr val="FFC8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781050" y="3429000"/>
            <a:ext cx="3143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6D42E8"/>
                </a:solidFill>
                <a:latin typeface="Verdana"/>
                <a:ea typeface="Verdana"/>
                <a:cs typeface="Verdana"/>
                <a:sym typeface="Verdana"/>
              </a:rPr>
              <a:t>Сокристалл</a:t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781050" y="3924300"/>
            <a:ext cx="314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совместная твёрдая фаза</a:t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781050" y="4648200"/>
            <a:ext cx="3048000" cy="38100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4591050" y="3429000"/>
            <a:ext cx="3143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FB6AA"/>
                </a:solidFill>
                <a:latin typeface="Verdana"/>
                <a:ea typeface="Verdana"/>
                <a:cs typeface="Verdana"/>
                <a:sym typeface="Verdana"/>
              </a:rPr>
              <a:t>Плёнка</a:t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4591050" y="3924300"/>
            <a:ext cx="314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полимерная или молекулярная матрица</a:t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4591050" y="4648200"/>
            <a:ext cx="3048000" cy="38100"/>
          </a:xfrm>
          <a:prstGeom prst="rect">
            <a:avLst/>
          </a:prstGeom>
          <a:solidFill>
            <a:srgbClr val="1FB6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8401050" y="3429000"/>
            <a:ext cx="3143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27D72"/>
                </a:solidFill>
                <a:latin typeface="Verdana"/>
                <a:ea typeface="Verdana"/>
                <a:cs typeface="Verdana"/>
                <a:sym typeface="Verdana"/>
              </a:rPr>
              <a:t>Формуляция</a:t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8401050" y="3924300"/>
            <a:ext cx="314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активы, растворитель и съёмный носитель</a:t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8401050" y="4648200"/>
            <a:ext cx="3048000" cy="38100"/>
          </a:xfrm>
          <a:prstGeom prst="rect">
            <a:avLst/>
          </a:prstGeom>
          <a:solidFill>
            <a:srgbClr val="FFC8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1809750" y="5334000"/>
            <a:ext cx="8572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Выбор уровня должен соответствовать данным и трёхдневному бюджету</a:t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609600" y="6400800"/>
            <a:ext cx="10953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[1] Orrego-Hernández et al., 2020</a:t>
            </a:r>
            <a:r>
              <a:rPr lang="en-US" sz="1125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[6] Nitulescu et al., 2023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/>
          <p:nvPr/>
        </p:nvSpPr>
        <p:spPr>
          <a:xfrm>
            <a:off x="609600" y="381000"/>
            <a:ext cx="10572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Поглощение света: первое приближение</a:t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609600" y="1028700"/>
            <a:ext cx="1123950" cy="47625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11144250" y="447675"/>
            <a:ext cx="495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07</a:t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857250" y="1619250"/>
            <a:ext cx="4191000" cy="742950"/>
          </a:xfrm>
          <a:prstGeom prst="roundRect">
            <a:avLst>
              <a:gd fmla="val 10256" name="adj"/>
            </a:avLst>
          </a:prstGeom>
          <a:solidFill>
            <a:srgbClr val="EA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1028700" y="1695450"/>
            <a:ext cx="38481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6D42E8"/>
                </a:solidFill>
                <a:latin typeface="Verdana"/>
                <a:ea typeface="Verdana"/>
                <a:cs typeface="Verdana"/>
                <a:sym typeface="Verdana"/>
              </a:rPr>
              <a:t>A(λ) = ε(λ) c l</a:t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857250" y="2667000"/>
            <a:ext cx="4191000" cy="742950"/>
          </a:xfrm>
          <a:prstGeom prst="roundRect">
            <a:avLst>
              <a:gd fmla="val 10256" name="adj"/>
            </a:avLst>
          </a:prstGeom>
          <a:solidFill>
            <a:srgbClr val="EA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1028700" y="2743200"/>
            <a:ext cx="38481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FB6AA"/>
                </a:solidFill>
                <a:latin typeface="Verdana"/>
                <a:ea typeface="Verdana"/>
                <a:cs typeface="Verdana"/>
                <a:sym typeface="Verdana"/>
              </a:rPr>
              <a:t>T(λ) = 10⁻ᴬ⁽λ⁾</a:t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857250" y="3714750"/>
            <a:ext cx="4191000" cy="742950"/>
          </a:xfrm>
          <a:prstGeom prst="roundRect">
            <a:avLst>
              <a:gd fmla="val 10256" name="adj"/>
            </a:avLst>
          </a:prstGeom>
          <a:solidFill>
            <a:srgbClr val="EA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1028700" y="3790950"/>
            <a:ext cx="38481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f_abs(λ) = 1 − T(λ)</a:t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5810250" y="2238375"/>
            <a:ext cx="1047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6D42E8"/>
                </a:solidFill>
                <a:latin typeface="Verdana"/>
                <a:ea typeface="Verdana"/>
                <a:cs typeface="Verdana"/>
                <a:sym typeface="Verdana"/>
              </a:rPr>
              <a:t>I₀(λ)</a:t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6858000" y="2257425"/>
            <a:ext cx="1095375" cy="3619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8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8096250" y="1666875"/>
            <a:ext cx="1000125" cy="2190750"/>
          </a:xfrm>
          <a:prstGeom prst="rect">
            <a:avLst/>
          </a:prstGeom>
          <a:solidFill>
            <a:srgbClr val="A88CFF"/>
          </a:solidFill>
          <a:ln cap="flat" cmpd="sng" w="19050">
            <a:solidFill>
              <a:srgbClr val="6D4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7911413" y="2300288"/>
            <a:ext cx="1369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плёнка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l</a:t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9239250" y="2257425"/>
            <a:ext cx="1095375" cy="3619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FB6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10382250" y="2238375"/>
            <a:ext cx="1000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FB6AA"/>
                </a:solidFill>
                <a:latin typeface="Verdana"/>
                <a:ea typeface="Verdana"/>
                <a:cs typeface="Verdana"/>
                <a:sym typeface="Verdana"/>
              </a:rPr>
              <a:t>I(λ)</a:t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7405688" y="4076700"/>
            <a:ext cx="2381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Однородная среда</a:t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5904000" y="4852988"/>
            <a:ext cx="5048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27D72"/>
                </a:solidFill>
                <a:latin typeface="Verdana"/>
                <a:ea typeface="Verdana"/>
                <a:cs typeface="Verdana"/>
                <a:sym typeface="Verdana"/>
              </a:rPr>
              <a:t>Реальная плёнка: рассеяние, неоднородность, отражение</a:t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609600" y="6400800"/>
            <a:ext cx="10953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[4] Diffey et al., 2000</a:t>
            </a:r>
            <a:r>
              <a:rPr lang="en-US" sz="1125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[16] IUPAC Photochemistry Glossary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A33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/>
          <p:nvPr/>
        </p:nvSpPr>
        <p:spPr>
          <a:xfrm>
            <a:off x="609600" y="381000"/>
            <a:ext cx="10572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Спектральное перекрытие задаёт бюджет фотонов</a:t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609600" y="1028700"/>
            <a:ext cx="1123950" cy="47625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11144250" y="447675"/>
            <a:ext cx="495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A88CFF"/>
                </a:solidFill>
                <a:latin typeface="Verdana"/>
                <a:ea typeface="Verdana"/>
                <a:cs typeface="Verdana"/>
                <a:sym typeface="Verdana"/>
              </a:rPr>
              <a:t>08</a:t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952500" y="1666875"/>
            <a:ext cx="2381250" cy="666750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3333750" y="1666875"/>
            <a:ext cx="3810000" cy="666750"/>
          </a:xfrm>
          <a:prstGeom prst="rect">
            <a:avLst/>
          </a:prstGeom>
          <a:solidFill>
            <a:srgbClr val="A8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7143750" y="1666875"/>
            <a:ext cx="4095750" cy="666750"/>
          </a:xfrm>
          <a:prstGeom prst="rect">
            <a:avLst/>
          </a:prstGeom>
          <a:solidFill>
            <a:srgbClr val="1FB6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952500" y="1781175"/>
            <a:ext cx="2381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UVB 290–320 nm</a:t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3333750" y="1781175"/>
            <a:ext cx="381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UVA 320–400 nm</a:t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7143750" y="1781175"/>
            <a:ext cx="4095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видимый свет</a:t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1000125" y="2952750"/>
            <a:ext cx="10191750" cy="742950"/>
          </a:xfrm>
          <a:prstGeom prst="roundRect">
            <a:avLst>
              <a:gd fmla="val 10256" name="adj"/>
            </a:avLst>
          </a:prstGeom>
          <a:solidFill>
            <a:srgbClr val="0D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1171575" y="3028950"/>
            <a:ext cx="98488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I_abs = ∫ Iλ(λ) [1 − T(λ) − R(λ)] dλ</a:t>
            </a:r>
            <a:endParaRPr b="1" sz="175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1000125" y="4048125"/>
            <a:ext cx="10191750" cy="742950"/>
          </a:xfrm>
          <a:prstGeom prst="roundRect">
            <a:avLst>
              <a:gd fmla="val 10256" name="adj"/>
            </a:avLst>
          </a:prstGeom>
          <a:solidFill>
            <a:srgbClr val="0D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1171575" y="4124325"/>
            <a:ext cx="98488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E_photon = hc / λ       Ṅ_ph(λ) = I_abs,λ(λ) · λ / (hc)</a:t>
            </a:r>
            <a:endParaRPr b="1" sz="165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1428750" y="5238750"/>
            <a:ext cx="9334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A88CFF"/>
                </a:solidFill>
                <a:latin typeface="Verdana"/>
                <a:ea typeface="Verdana"/>
                <a:cs typeface="Verdana"/>
                <a:sym typeface="Verdana"/>
              </a:rPr>
              <a:t>Одинаковая мощность при большей λ содержит больше фотонов, но каждый фотон несёт меньше энергии</a:t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609600" y="6400800"/>
            <a:ext cx="10953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[1] Orrego-Hernández et al., 2020</a:t>
            </a:r>
            <a:r>
              <a:rPr lang="en-US" sz="1125">
                <a:solidFill>
                  <a:srgbClr val="A88CFF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[16] IUPAC Photochemistry Glossary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"/>
          <p:cNvSpPr/>
          <p:nvPr/>
        </p:nvSpPr>
        <p:spPr>
          <a:xfrm>
            <a:off x="609600" y="381000"/>
            <a:ext cx="10572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SPF относится к плёнке или формуляции</a:t>
            </a:r>
            <a:endParaRPr/>
          </a:p>
        </p:txBody>
      </p:sp>
      <p:sp>
        <p:nvSpPr>
          <p:cNvPr id="195" name="Google Shape;195;p11"/>
          <p:cNvSpPr/>
          <p:nvPr/>
        </p:nvSpPr>
        <p:spPr>
          <a:xfrm>
            <a:off x="609600" y="1028700"/>
            <a:ext cx="1123950" cy="47625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"/>
          <p:cNvSpPr/>
          <p:nvPr/>
        </p:nvSpPr>
        <p:spPr>
          <a:xfrm>
            <a:off x="11144250" y="447675"/>
            <a:ext cx="495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09</a:t>
            </a:r>
            <a:endParaRPr/>
          </a:p>
        </p:txBody>
      </p:sp>
      <p:sp>
        <p:nvSpPr>
          <p:cNvPr id="197" name="Google Shape;197;p11"/>
          <p:cNvSpPr/>
          <p:nvPr/>
        </p:nvSpPr>
        <p:spPr>
          <a:xfrm>
            <a:off x="857250" y="1666875"/>
            <a:ext cx="10477500" cy="914400"/>
          </a:xfrm>
          <a:prstGeom prst="roundRect">
            <a:avLst>
              <a:gd fmla="val 8333" name="adj"/>
            </a:avLst>
          </a:prstGeom>
          <a:solidFill>
            <a:srgbClr val="EA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1028700" y="1743075"/>
            <a:ext cx="10134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SPF_spec =  ∫₂₉₀⁴⁰⁰ E_ery(λ) I(λ) dλ  /  ∫₂₉₀⁴⁰⁰ E_ery(λ) I(λ) T(λ) dλ</a:t>
            </a:r>
            <a:endParaRPr b="1" sz="1650">
              <a:solidFill>
                <a:srgbClr val="071A3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1285875" y="3476625"/>
            <a:ext cx="1619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D42E8"/>
                </a:solidFill>
                <a:latin typeface="Verdana"/>
                <a:ea typeface="Verdana"/>
                <a:cs typeface="Verdana"/>
                <a:sym typeface="Verdana"/>
              </a:rPr>
              <a:t>молекула</a:t>
            </a: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3000375" y="3543300"/>
            <a:ext cx="904875" cy="34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8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3905175" y="3424238"/>
            <a:ext cx="2000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FB6AA"/>
                </a:solidFill>
                <a:latin typeface="Verdana"/>
                <a:ea typeface="Verdana"/>
                <a:cs typeface="Verdana"/>
                <a:sym typeface="Verdana"/>
              </a:rPr>
              <a:t>формуляция</a:t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5905500" y="3543300"/>
            <a:ext cx="904875" cy="34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8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"/>
          <p:cNvSpPr/>
          <p:nvPr/>
        </p:nvSpPr>
        <p:spPr>
          <a:xfrm>
            <a:off x="6905625" y="3476625"/>
            <a:ext cx="2000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C845"/>
                </a:solidFill>
                <a:latin typeface="Verdana"/>
                <a:ea typeface="Verdana"/>
                <a:cs typeface="Verdana"/>
                <a:sym typeface="Verdana"/>
              </a:rPr>
              <a:t>плёнка на коже</a:t>
            </a:r>
            <a:endParaRPr/>
          </a:p>
        </p:txBody>
      </p:sp>
      <p:sp>
        <p:nvSpPr>
          <p:cNvPr id="204" name="Google Shape;204;p11"/>
          <p:cNvSpPr/>
          <p:nvPr/>
        </p:nvSpPr>
        <p:spPr>
          <a:xfrm>
            <a:off x="9001125" y="3543300"/>
            <a:ext cx="904875" cy="34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8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9953625" y="3333750"/>
            <a:ext cx="1143000" cy="781050"/>
          </a:xfrm>
          <a:prstGeom prst="rect">
            <a:avLst/>
          </a:prstGeom>
          <a:solidFill>
            <a:srgbClr val="EAF1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27D72"/>
                </a:solidFill>
                <a:latin typeface="Verdana"/>
                <a:ea typeface="Verdana"/>
                <a:cs typeface="Verdana"/>
                <a:sym typeface="Verdana"/>
              </a:rPr>
              <a:t>SPF</a:t>
            </a: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1619250" y="4762500"/>
            <a:ext cx="8953500" cy="800100"/>
          </a:xfrm>
          <a:prstGeom prst="roundRect">
            <a:avLst>
              <a:gd fmla="val 9524" name="adj"/>
            </a:avLst>
          </a:prstGeom>
          <a:solidFill>
            <a:srgbClr val="071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1857375" y="4914900"/>
            <a:ext cx="84772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Спектральная оценка полезна для скрининга, но не заменяет испытание ISO 24444</a:t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609600" y="6400800"/>
            <a:ext cx="10953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[4] Diffey et al., 2000</a:t>
            </a:r>
            <a:r>
              <a:rPr lang="en-US" sz="1125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[7] ISO 24444:2019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/>
          <p:nvPr/>
        </p:nvSpPr>
        <p:spPr>
          <a:xfrm>
            <a:off x="609600" y="381000"/>
            <a:ext cx="10572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UVA-покрытие и critical wavelength</a:t>
            </a: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609600" y="1028700"/>
            <a:ext cx="1123950" cy="47625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"/>
          <p:cNvSpPr/>
          <p:nvPr/>
        </p:nvSpPr>
        <p:spPr>
          <a:xfrm>
            <a:off x="11144250" y="447675"/>
            <a:ext cx="495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10</a:t>
            </a:r>
            <a:endParaRPr/>
          </a:p>
        </p:txBody>
      </p:sp>
      <p:sp>
        <p:nvSpPr>
          <p:cNvPr id="217" name="Google Shape;217;p12"/>
          <p:cNvSpPr/>
          <p:nvPr/>
        </p:nvSpPr>
        <p:spPr>
          <a:xfrm>
            <a:off x="1428750" y="1524000"/>
            <a:ext cx="9334500" cy="838200"/>
          </a:xfrm>
          <a:prstGeom prst="roundRect">
            <a:avLst>
              <a:gd fmla="val 9091" name="adj"/>
            </a:avLst>
          </a:prstGeom>
          <a:solidFill>
            <a:srgbClr val="EA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1600200" y="1600200"/>
            <a:ext cx="899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6D42E8"/>
                </a:solidFill>
                <a:latin typeface="Verdana"/>
                <a:ea typeface="Verdana"/>
                <a:cs typeface="Verdana"/>
                <a:sym typeface="Verdana"/>
              </a:rPr>
              <a:t>∫₂₉₀^λc A(λ)dλ = 0.9 ∫₂₉₀^⁴⁰⁰ A(λ)dλ</a:t>
            </a:r>
            <a:endParaRPr/>
          </a:p>
        </p:txBody>
      </p:sp>
      <p:sp>
        <p:nvSpPr>
          <p:cNvPr id="219" name="Google Shape;219;p12"/>
          <p:cNvSpPr/>
          <p:nvPr/>
        </p:nvSpPr>
        <p:spPr>
          <a:xfrm>
            <a:off x="1190625" y="3190875"/>
            <a:ext cx="2095500" cy="609600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3286125" y="3190875"/>
            <a:ext cx="5572125" cy="609600"/>
          </a:xfrm>
          <a:prstGeom prst="rect">
            <a:avLst/>
          </a:prstGeom>
          <a:solidFill>
            <a:srgbClr val="A8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8858250" y="3190875"/>
            <a:ext cx="2095500" cy="609600"/>
          </a:xfrm>
          <a:prstGeom prst="rect">
            <a:avLst/>
          </a:prstGeom>
          <a:solidFill>
            <a:srgbClr val="EA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"/>
          <p:cNvSpPr/>
          <p:nvPr/>
        </p:nvSpPr>
        <p:spPr>
          <a:xfrm>
            <a:off x="1190625" y="3286125"/>
            <a:ext cx="209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UVB</a:t>
            </a: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3286125" y="3286125"/>
            <a:ext cx="5572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UVA</a:t>
            </a:r>
            <a:endParaRPr/>
          </a:p>
        </p:txBody>
      </p:sp>
      <p:sp>
        <p:nvSpPr>
          <p:cNvPr id="224" name="Google Shape;224;p12"/>
          <p:cNvSpPr/>
          <p:nvPr/>
        </p:nvSpPr>
        <p:spPr>
          <a:xfrm>
            <a:off x="8858250" y="3286125"/>
            <a:ext cx="209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VIS</a:t>
            </a:r>
            <a:endParaRPr/>
          </a:p>
        </p:txBody>
      </p:sp>
      <p:sp>
        <p:nvSpPr>
          <p:cNvPr id="225" name="Google Shape;225;p12"/>
          <p:cNvSpPr/>
          <p:nvPr/>
        </p:nvSpPr>
        <p:spPr>
          <a:xfrm>
            <a:off x="1066800" y="3952875"/>
            <a:ext cx="666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290</a:t>
            </a:r>
            <a:endParaRPr/>
          </a:p>
        </p:txBody>
      </p:sp>
      <p:sp>
        <p:nvSpPr>
          <p:cNvPr id="226" name="Google Shape;226;p12"/>
          <p:cNvSpPr/>
          <p:nvPr/>
        </p:nvSpPr>
        <p:spPr>
          <a:xfrm>
            <a:off x="3000375" y="3952875"/>
            <a:ext cx="666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320</a:t>
            </a:r>
            <a:endParaRPr/>
          </a:p>
        </p:txBody>
      </p:sp>
      <p:sp>
        <p:nvSpPr>
          <p:cNvPr id="227" name="Google Shape;227;p12"/>
          <p:cNvSpPr/>
          <p:nvPr/>
        </p:nvSpPr>
        <p:spPr>
          <a:xfrm>
            <a:off x="8524875" y="3952875"/>
            <a:ext cx="104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400 nm</a:t>
            </a:r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7810500" y="2590800"/>
            <a:ext cx="419100" cy="571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C8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"/>
          <p:cNvSpPr/>
          <p:nvPr/>
        </p:nvSpPr>
        <p:spPr>
          <a:xfrm>
            <a:off x="2476500" y="4619625"/>
            <a:ext cx="723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λc ≥ 370 nm: критерий broad spectrum в правилах FDA</a:t>
            </a:r>
            <a:endParaRPr b="1" sz="1450">
              <a:solidFill>
                <a:srgbClr val="071A3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3429000" y="5219700"/>
            <a:ext cx="533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27D72"/>
                </a:solidFill>
                <a:latin typeface="Verdana"/>
                <a:ea typeface="Verdana"/>
                <a:cs typeface="Verdana"/>
                <a:sym typeface="Verdana"/>
              </a:rPr>
              <a:t>Critical wavelength не равна UVA-PF</a:t>
            </a: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609600" y="6400800"/>
            <a:ext cx="10953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[4]</a:t>
            </a:r>
            <a:r>
              <a:rPr lang="en-US" sz="900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</a:rPr>
              <a:t> Diffey 2000   </a:t>
            </a:r>
            <a:r>
              <a:rPr lang="en-US" sz="90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[5]</a:t>
            </a:r>
            <a:r>
              <a:rPr lang="en-US" sz="900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</a:rPr>
              <a:t> Matts 2010   </a:t>
            </a:r>
            <a:r>
              <a:rPr lang="en-US" sz="90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[8]</a:t>
            </a:r>
            <a:r>
              <a:rPr lang="en-US" sz="900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</a:rPr>
              <a:t> ISO 24443:2021   </a:t>
            </a:r>
            <a:r>
              <a:rPr lang="en-US" sz="90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[20]</a:t>
            </a:r>
            <a:r>
              <a:rPr lang="en-US" sz="900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</a:rPr>
              <a:t> 21 CFR §201.327</a:t>
            </a:r>
            <a:endParaRPr sz="900">
              <a:solidFill>
                <a:srgbClr val="00A5A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"/>
          <p:cNvSpPr/>
          <p:nvPr/>
        </p:nvSpPr>
        <p:spPr>
          <a:xfrm>
            <a:off x="609600" y="381000"/>
            <a:ext cx="10572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Поглощение не гарантирует фотозарядку</a:t>
            </a:r>
            <a:endParaRPr/>
          </a:p>
        </p:txBody>
      </p:sp>
      <p:sp>
        <p:nvSpPr>
          <p:cNvPr id="238" name="Google Shape;238;p13"/>
          <p:cNvSpPr/>
          <p:nvPr/>
        </p:nvSpPr>
        <p:spPr>
          <a:xfrm>
            <a:off x="609600" y="1028700"/>
            <a:ext cx="1123950" cy="47625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3"/>
          <p:cNvSpPr/>
          <p:nvPr/>
        </p:nvSpPr>
        <p:spPr>
          <a:xfrm>
            <a:off x="11144250" y="447675"/>
            <a:ext cx="495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11</a:t>
            </a:r>
            <a:endParaRPr/>
          </a:p>
        </p:txBody>
      </p:sp>
      <p:sp>
        <p:nvSpPr>
          <p:cNvPr id="240" name="Google Shape;240;p13"/>
          <p:cNvSpPr/>
          <p:nvPr/>
        </p:nvSpPr>
        <p:spPr>
          <a:xfrm>
            <a:off x="809625" y="1571625"/>
            <a:ext cx="4905375" cy="800100"/>
          </a:xfrm>
          <a:prstGeom prst="roundRect">
            <a:avLst>
              <a:gd fmla="val 9524" name="adj"/>
            </a:avLst>
          </a:prstGeom>
          <a:solidFill>
            <a:srgbClr val="EA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"/>
          <p:cNvSpPr/>
          <p:nvPr/>
        </p:nvSpPr>
        <p:spPr>
          <a:xfrm>
            <a:off x="981075" y="1647825"/>
            <a:ext cx="45624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6D42E8"/>
                </a:solidFill>
                <a:latin typeface="Verdana"/>
                <a:ea typeface="Verdana"/>
                <a:cs typeface="Verdana"/>
                <a:sym typeface="Verdana"/>
              </a:rPr>
              <a:t>Φ_A→B = N_A→B / N_absorbed photons</a:t>
            </a:r>
            <a:endParaRPr/>
          </a:p>
        </p:txBody>
      </p:sp>
      <p:sp>
        <p:nvSpPr>
          <p:cNvPr id="242" name="Google Shape;242;p13"/>
          <p:cNvSpPr/>
          <p:nvPr/>
        </p:nvSpPr>
        <p:spPr>
          <a:xfrm>
            <a:off x="6096000" y="1571625"/>
            <a:ext cx="5286375" cy="800100"/>
          </a:xfrm>
          <a:prstGeom prst="roundRect">
            <a:avLst>
              <a:gd fmla="val 9524" name="adj"/>
            </a:avLst>
          </a:prstGeom>
          <a:solidFill>
            <a:srgbClr val="EA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3"/>
          <p:cNvSpPr/>
          <p:nvPr/>
        </p:nvSpPr>
        <p:spPr>
          <a:xfrm>
            <a:off x="6267450" y="1647825"/>
            <a:ext cx="49434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FB6AA"/>
                </a:solidFill>
                <a:latin typeface="Verdana"/>
                <a:ea typeface="Verdana"/>
                <a:cs typeface="Verdana"/>
                <a:sym typeface="Verdana"/>
              </a:rPr>
              <a:t>x_B^PSS(λ) =</a:t>
            </a:r>
            <a:endParaRPr b="1">
              <a:solidFill>
                <a:srgbClr val="1FB6A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FB6AA"/>
                </a:solidFill>
                <a:latin typeface="Verdana"/>
                <a:ea typeface="Verdana"/>
                <a:cs typeface="Verdana"/>
                <a:sym typeface="Verdana"/>
              </a:rPr>
              <a:t>Φ_AB(λ) ε_A(λ) / [Φ_AB(λ) ε_A(λ) + Φ_BA(λ) ε_B(λ)]</a:t>
            </a:r>
            <a:endParaRPr b="1">
              <a:solidFill>
                <a:srgbClr val="1FB6A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1143000" y="3143250"/>
            <a:ext cx="2190750" cy="1428750"/>
          </a:xfrm>
          <a:prstGeom prst="ellipse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3"/>
          <p:cNvSpPr/>
          <p:nvPr/>
        </p:nvSpPr>
        <p:spPr>
          <a:xfrm>
            <a:off x="1143000" y="3286125"/>
            <a:ext cx="2190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N_abs</a:t>
            </a:r>
            <a:endParaRPr/>
          </a:p>
        </p:txBody>
      </p:sp>
      <p:sp>
        <p:nvSpPr>
          <p:cNvPr id="246" name="Google Shape;246;p13"/>
          <p:cNvSpPr/>
          <p:nvPr/>
        </p:nvSpPr>
        <p:spPr>
          <a:xfrm>
            <a:off x="1143000" y="3752850"/>
            <a:ext cx="2190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фотоны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поглощены</a:t>
            </a:r>
            <a:endParaRPr/>
          </a:p>
        </p:txBody>
      </p:sp>
      <p:sp>
        <p:nvSpPr>
          <p:cNvPr id="247" name="Google Shape;247;p13"/>
          <p:cNvSpPr/>
          <p:nvPr/>
        </p:nvSpPr>
        <p:spPr>
          <a:xfrm>
            <a:off x="3524250" y="3667125"/>
            <a:ext cx="1000125" cy="3619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8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"/>
          <p:cNvSpPr/>
          <p:nvPr/>
        </p:nvSpPr>
        <p:spPr>
          <a:xfrm>
            <a:off x="4762500" y="3143250"/>
            <a:ext cx="2190750" cy="1428750"/>
          </a:xfrm>
          <a:prstGeom prst="ellipse">
            <a:avLst/>
          </a:prstGeom>
          <a:solidFill>
            <a:srgbClr val="FFC8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3"/>
          <p:cNvSpPr/>
          <p:nvPr/>
        </p:nvSpPr>
        <p:spPr>
          <a:xfrm>
            <a:off x="4762413" y="3552825"/>
            <a:ext cx="2190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Φ_А </a:t>
            </a:r>
            <a:r>
              <a:rPr b="1" lang="en-US" sz="1575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превратился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в B</a:t>
            </a:r>
            <a:endParaRPr/>
          </a:p>
        </p:txBody>
      </p:sp>
      <p:sp>
        <p:nvSpPr>
          <p:cNvPr id="250" name="Google Shape;250;p13"/>
          <p:cNvSpPr/>
          <p:nvPr/>
        </p:nvSpPr>
        <p:spPr>
          <a:xfrm>
            <a:off x="7143750" y="3667125"/>
            <a:ext cx="1000125" cy="3619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8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"/>
          <p:cNvSpPr/>
          <p:nvPr/>
        </p:nvSpPr>
        <p:spPr>
          <a:xfrm>
            <a:off x="8382000" y="3143250"/>
            <a:ext cx="2190750" cy="1428750"/>
          </a:xfrm>
          <a:prstGeom prst="ellipse">
            <a:avLst/>
          </a:prstGeom>
          <a:solidFill>
            <a:srgbClr val="1FB6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"/>
          <p:cNvSpPr/>
          <p:nvPr/>
        </p:nvSpPr>
        <p:spPr>
          <a:xfrm>
            <a:off x="8382000" y="3286125"/>
            <a:ext cx="2190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x_B^PSS</a:t>
            </a:r>
            <a:endParaRPr/>
          </a:p>
        </p:txBody>
      </p:sp>
      <p:sp>
        <p:nvSpPr>
          <p:cNvPr id="253" name="Google Shape;253;p13"/>
          <p:cNvSpPr/>
          <p:nvPr/>
        </p:nvSpPr>
        <p:spPr>
          <a:xfrm>
            <a:off x="8382000" y="3752850"/>
            <a:ext cx="2190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установился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PSS</a:t>
            </a:r>
            <a:endParaRPr/>
          </a:p>
        </p:txBody>
      </p:sp>
      <p:sp>
        <p:nvSpPr>
          <p:cNvPr id="254" name="Google Shape;254;p13"/>
          <p:cNvSpPr/>
          <p:nvPr/>
        </p:nvSpPr>
        <p:spPr>
          <a:xfrm>
            <a:off x="2000250" y="5191125"/>
            <a:ext cx="8191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27D72"/>
                </a:solidFill>
                <a:latin typeface="Verdana"/>
                <a:ea typeface="Verdana"/>
                <a:cs typeface="Verdana"/>
                <a:sym typeface="Verdana"/>
              </a:rPr>
              <a:t>Обратное поглощение B может ограничить максимальную долю заряженного состояния</a:t>
            </a:r>
            <a:endParaRPr/>
          </a:p>
        </p:txBody>
      </p:sp>
      <p:sp>
        <p:nvSpPr>
          <p:cNvPr id="255" name="Google Shape;255;p13"/>
          <p:cNvSpPr/>
          <p:nvPr/>
        </p:nvSpPr>
        <p:spPr>
          <a:xfrm>
            <a:off x="609600" y="6400800"/>
            <a:ext cx="10953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[1] Orrego-Hernández et al., 2020</a:t>
            </a:r>
            <a:r>
              <a:rPr lang="en-US" sz="1125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[2] Mansø et al., 2018</a:t>
            </a:r>
            <a:r>
              <a:rPr lang="en-US" sz="1125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5"/>
              </a:rPr>
              <a:t>[16] IUPAC Photochemistry Glossary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A33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"/>
          <p:cNvSpPr/>
          <p:nvPr/>
        </p:nvSpPr>
        <p:spPr>
          <a:xfrm>
            <a:off x="609600" y="381000"/>
            <a:ext cx="10572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Запасённая энергия зависит от трёх множителей</a:t>
            </a:r>
            <a:endParaRPr/>
          </a:p>
        </p:txBody>
      </p:sp>
      <p:sp>
        <p:nvSpPr>
          <p:cNvPr id="262" name="Google Shape;262;p14"/>
          <p:cNvSpPr/>
          <p:nvPr/>
        </p:nvSpPr>
        <p:spPr>
          <a:xfrm>
            <a:off x="609600" y="1028700"/>
            <a:ext cx="1123950" cy="47625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4"/>
          <p:cNvSpPr/>
          <p:nvPr/>
        </p:nvSpPr>
        <p:spPr>
          <a:xfrm>
            <a:off x="11144250" y="447675"/>
            <a:ext cx="495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A88CFF"/>
                </a:solidFill>
                <a:latin typeface="Verdana"/>
                <a:ea typeface="Verdana"/>
                <a:cs typeface="Verdana"/>
                <a:sym typeface="Verdana"/>
              </a:rPr>
              <a:t>12</a:t>
            </a:r>
            <a:endParaRPr/>
          </a:p>
        </p:txBody>
      </p:sp>
      <p:sp>
        <p:nvSpPr>
          <p:cNvPr id="264" name="Google Shape;264;p14"/>
          <p:cNvSpPr/>
          <p:nvPr/>
        </p:nvSpPr>
        <p:spPr>
          <a:xfrm>
            <a:off x="952500" y="1476375"/>
            <a:ext cx="4762500" cy="742950"/>
          </a:xfrm>
          <a:prstGeom prst="roundRect">
            <a:avLst>
              <a:gd fmla="val 10256" name="adj"/>
            </a:avLst>
          </a:prstGeom>
          <a:solidFill>
            <a:srgbClr val="0D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"/>
          <p:cNvSpPr/>
          <p:nvPr/>
        </p:nvSpPr>
        <p:spPr>
          <a:xfrm>
            <a:off x="1123950" y="1552575"/>
            <a:ext cx="44196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E_stored = n_B ΔH_B−A</a:t>
            </a:r>
            <a:endParaRPr/>
          </a:p>
        </p:txBody>
      </p:sp>
      <p:sp>
        <p:nvSpPr>
          <p:cNvPr id="266" name="Google Shape;266;p14"/>
          <p:cNvSpPr/>
          <p:nvPr/>
        </p:nvSpPr>
        <p:spPr>
          <a:xfrm>
            <a:off x="6477000" y="1476375"/>
            <a:ext cx="4762500" cy="742950"/>
          </a:xfrm>
          <a:prstGeom prst="roundRect">
            <a:avLst>
              <a:gd fmla="val 10256" name="adj"/>
            </a:avLst>
          </a:prstGeom>
          <a:solidFill>
            <a:srgbClr val="0D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4"/>
          <p:cNvSpPr/>
          <p:nvPr/>
        </p:nvSpPr>
        <p:spPr>
          <a:xfrm>
            <a:off x="6648450" y="1552575"/>
            <a:ext cx="44196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ρ_E^(m) = x_B^PSS ΔH_B−A / M</a:t>
            </a:r>
            <a:endParaRPr/>
          </a:p>
        </p:txBody>
      </p:sp>
      <p:sp>
        <p:nvSpPr>
          <p:cNvPr id="268" name="Google Shape;268;p14"/>
          <p:cNvSpPr/>
          <p:nvPr/>
        </p:nvSpPr>
        <p:spPr>
          <a:xfrm>
            <a:off x="1000125" y="3143250"/>
            <a:ext cx="28575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A88CFF"/>
                </a:solidFill>
                <a:latin typeface="Verdana"/>
                <a:ea typeface="Verdana"/>
                <a:cs typeface="Verdana"/>
                <a:sym typeface="Verdana"/>
              </a:rPr>
              <a:t>доля заряда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A88CFF"/>
                </a:solidFill>
                <a:latin typeface="Verdana"/>
                <a:ea typeface="Verdana"/>
                <a:cs typeface="Verdana"/>
                <a:sym typeface="Verdana"/>
              </a:rPr>
              <a:t>x_B^PSS</a:t>
            </a:r>
            <a:endParaRPr/>
          </a:p>
        </p:txBody>
      </p:sp>
      <p:sp>
        <p:nvSpPr>
          <p:cNvPr id="269" name="Google Shape;269;p14"/>
          <p:cNvSpPr/>
          <p:nvPr/>
        </p:nvSpPr>
        <p:spPr>
          <a:xfrm>
            <a:off x="3905250" y="3267075"/>
            <a:ext cx="523875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×</a:t>
            </a:r>
            <a:endParaRPr/>
          </a:p>
        </p:txBody>
      </p:sp>
      <p:sp>
        <p:nvSpPr>
          <p:cNvPr id="270" name="Google Shape;270;p14"/>
          <p:cNvSpPr/>
          <p:nvPr/>
        </p:nvSpPr>
        <p:spPr>
          <a:xfrm>
            <a:off x="4429125" y="3143250"/>
            <a:ext cx="28575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FFC845"/>
                </a:solidFill>
                <a:latin typeface="Verdana"/>
                <a:ea typeface="Verdana"/>
                <a:cs typeface="Verdana"/>
                <a:sym typeface="Verdana"/>
              </a:rPr>
              <a:t>энергия реакции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FFC845"/>
                </a:solidFill>
                <a:latin typeface="Verdana"/>
                <a:ea typeface="Verdana"/>
                <a:cs typeface="Verdana"/>
                <a:sym typeface="Verdana"/>
              </a:rPr>
              <a:t>ΔH</a:t>
            </a:r>
            <a:endParaRPr/>
          </a:p>
        </p:txBody>
      </p:sp>
      <p:sp>
        <p:nvSpPr>
          <p:cNvPr id="271" name="Google Shape;271;p14"/>
          <p:cNvSpPr/>
          <p:nvPr/>
        </p:nvSpPr>
        <p:spPr>
          <a:xfrm>
            <a:off x="7334250" y="3267075"/>
            <a:ext cx="523875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×</a:t>
            </a:r>
            <a:endParaRPr/>
          </a:p>
        </p:txBody>
      </p:sp>
      <p:sp>
        <p:nvSpPr>
          <p:cNvPr id="272" name="Google Shape;272;p14"/>
          <p:cNvSpPr/>
          <p:nvPr/>
        </p:nvSpPr>
        <p:spPr>
          <a:xfrm>
            <a:off x="7858125" y="3143250"/>
            <a:ext cx="28575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FB6AA"/>
                </a:solidFill>
                <a:latin typeface="Verdana"/>
                <a:ea typeface="Verdana"/>
                <a:cs typeface="Verdana"/>
                <a:sym typeface="Verdana"/>
              </a:rPr>
              <a:t>молярная масса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FB6AA"/>
                </a:solidFill>
                <a:latin typeface="Verdana"/>
                <a:ea typeface="Verdana"/>
                <a:cs typeface="Verdana"/>
                <a:sym typeface="Verdana"/>
              </a:rPr>
              <a:t>M</a:t>
            </a:r>
            <a:endParaRPr/>
          </a:p>
        </p:txBody>
      </p:sp>
      <p:sp>
        <p:nvSpPr>
          <p:cNvPr id="273" name="Google Shape;273;p14"/>
          <p:cNvSpPr/>
          <p:nvPr/>
        </p:nvSpPr>
        <p:spPr>
          <a:xfrm>
            <a:off x="2857500" y="4762500"/>
            <a:ext cx="6477000" cy="723900"/>
          </a:xfrm>
          <a:prstGeom prst="roundRect">
            <a:avLst>
              <a:gd fmla="val 10526" name="adj"/>
            </a:avLst>
          </a:prstGeom>
          <a:solidFill>
            <a:srgbClr val="0D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4"/>
          <p:cNvSpPr/>
          <p:nvPr/>
        </p:nvSpPr>
        <p:spPr>
          <a:xfrm>
            <a:off x="3028950" y="4838700"/>
            <a:ext cx="6134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η_store = E_stored / E_absorbed</a:t>
            </a:r>
            <a:endParaRPr/>
          </a:p>
        </p:txBody>
      </p:sp>
      <p:sp>
        <p:nvSpPr>
          <p:cNvPr id="275" name="Google Shape;275;p14"/>
          <p:cNvSpPr/>
          <p:nvPr/>
        </p:nvSpPr>
        <p:spPr>
          <a:xfrm>
            <a:off x="609600" y="6400800"/>
            <a:ext cx="10953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[1] Orrego-Hernández et al., 2020</a:t>
            </a:r>
            <a:r>
              <a:rPr lang="en-US" sz="1125">
                <a:solidFill>
                  <a:srgbClr val="A88CFF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[2] Mansø et al., 2018</a:t>
            </a:r>
            <a:r>
              <a:rPr lang="en-US" sz="1125">
                <a:solidFill>
                  <a:srgbClr val="A88CFF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5"/>
              </a:rPr>
              <a:t>[3] Jorner et al., 2017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"/>
          <p:cNvSpPr/>
          <p:nvPr/>
        </p:nvSpPr>
        <p:spPr>
          <a:xfrm>
            <a:off x="609600" y="381000"/>
            <a:ext cx="10572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Срок хранения задаёт кинетический барьер</a:t>
            </a:r>
            <a:endParaRPr/>
          </a:p>
        </p:txBody>
      </p:sp>
      <p:sp>
        <p:nvSpPr>
          <p:cNvPr id="282" name="Google Shape;282;p15"/>
          <p:cNvSpPr/>
          <p:nvPr/>
        </p:nvSpPr>
        <p:spPr>
          <a:xfrm>
            <a:off x="609600" y="1028700"/>
            <a:ext cx="1123950" cy="47625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5"/>
          <p:cNvSpPr/>
          <p:nvPr/>
        </p:nvSpPr>
        <p:spPr>
          <a:xfrm>
            <a:off x="11144250" y="447675"/>
            <a:ext cx="495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13</a:t>
            </a:r>
            <a:endParaRPr/>
          </a:p>
        </p:txBody>
      </p:sp>
      <p:sp>
        <p:nvSpPr>
          <p:cNvPr id="284" name="Google Shape;284;p15"/>
          <p:cNvSpPr/>
          <p:nvPr/>
        </p:nvSpPr>
        <p:spPr>
          <a:xfrm>
            <a:off x="762000" y="1476375"/>
            <a:ext cx="10668000" cy="762000"/>
          </a:xfrm>
          <a:prstGeom prst="roundRect">
            <a:avLst>
              <a:gd fmla="val 10000" name="adj"/>
            </a:avLst>
          </a:prstGeom>
          <a:solidFill>
            <a:srgbClr val="EA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5"/>
          <p:cNvSpPr/>
          <p:nvPr/>
        </p:nvSpPr>
        <p:spPr>
          <a:xfrm>
            <a:off x="933450" y="1552575"/>
            <a:ext cx="10325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k(T) = A exp(−E_a / RT)       t₁/₂ = ln 2 / k</a:t>
            </a:r>
            <a:endParaRPr/>
          </a:p>
        </p:txBody>
      </p:sp>
      <p:sp>
        <p:nvSpPr>
          <p:cNvPr id="286" name="Google Shape;286;p15"/>
          <p:cNvSpPr/>
          <p:nvPr/>
        </p:nvSpPr>
        <p:spPr>
          <a:xfrm>
            <a:off x="2333625" y="2476500"/>
            <a:ext cx="7524750" cy="742950"/>
          </a:xfrm>
          <a:prstGeom prst="roundRect">
            <a:avLst>
              <a:gd fmla="val 10256" name="adj"/>
            </a:avLst>
          </a:prstGeom>
          <a:solidFill>
            <a:srgbClr val="EA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5"/>
          <p:cNvSpPr/>
          <p:nvPr/>
        </p:nvSpPr>
        <p:spPr>
          <a:xfrm>
            <a:off x="2505075" y="2552700"/>
            <a:ext cx="71818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6D42E8"/>
                </a:solidFill>
                <a:latin typeface="Verdana"/>
                <a:ea typeface="Verdana"/>
                <a:cs typeface="Verdana"/>
                <a:sym typeface="Verdana"/>
              </a:rPr>
              <a:t>k(T) = (k_B T / h) exp(−ΔG‡ / RT)</a:t>
            </a:r>
            <a:endParaRPr/>
          </a:p>
        </p:txBody>
      </p:sp>
      <p:sp>
        <p:nvSpPr>
          <p:cNvPr id="288" name="Google Shape;288;p15"/>
          <p:cNvSpPr/>
          <p:nvPr/>
        </p:nvSpPr>
        <p:spPr>
          <a:xfrm>
            <a:off x="1238250" y="4667250"/>
            <a:ext cx="5238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endParaRPr/>
          </a:p>
        </p:txBody>
      </p:sp>
      <p:sp>
        <p:nvSpPr>
          <p:cNvPr id="289" name="Google Shape;289;p15"/>
          <p:cNvSpPr/>
          <p:nvPr/>
        </p:nvSpPr>
        <p:spPr>
          <a:xfrm>
            <a:off x="10144125" y="3714750"/>
            <a:ext cx="5238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FB6AA"/>
                </a:solidFill>
                <a:latin typeface="Verdana"/>
                <a:ea typeface="Verdana"/>
                <a:cs typeface="Verdana"/>
                <a:sym typeface="Verdana"/>
              </a:rPr>
              <a:t>B</a:t>
            </a:r>
            <a:endParaRPr/>
          </a:p>
        </p:txBody>
      </p:sp>
      <p:sp>
        <p:nvSpPr>
          <p:cNvPr id="290" name="Google Shape;290;p15"/>
          <p:cNvSpPr/>
          <p:nvPr/>
        </p:nvSpPr>
        <p:spPr>
          <a:xfrm>
            <a:off x="1809750" y="4876800"/>
            <a:ext cx="1619250" cy="47625"/>
          </a:xfrm>
          <a:prstGeom prst="rect">
            <a:avLst/>
          </a:prstGeom>
          <a:solidFill>
            <a:srgbClr val="071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5"/>
          <p:cNvSpPr/>
          <p:nvPr/>
        </p:nvSpPr>
        <p:spPr>
          <a:xfrm>
            <a:off x="9048750" y="3924300"/>
            <a:ext cx="1619250" cy="47625"/>
          </a:xfrm>
          <a:prstGeom prst="rect">
            <a:avLst/>
          </a:prstGeom>
          <a:solidFill>
            <a:srgbClr val="1FB6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5"/>
          <p:cNvSpPr/>
          <p:nvPr/>
        </p:nvSpPr>
        <p:spPr>
          <a:xfrm>
            <a:off x="4762500" y="3381375"/>
            <a:ext cx="2381250" cy="47625"/>
          </a:xfrm>
          <a:prstGeom prst="rect">
            <a:avLst/>
          </a:prstGeom>
          <a:solidFill>
            <a:srgbClr val="F27D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5"/>
          <p:cNvSpPr/>
          <p:nvPr/>
        </p:nvSpPr>
        <p:spPr>
          <a:xfrm>
            <a:off x="3762375" y="3667125"/>
            <a:ext cx="428625" cy="119062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27D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5"/>
          <p:cNvSpPr/>
          <p:nvPr/>
        </p:nvSpPr>
        <p:spPr>
          <a:xfrm>
            <a:off x="7667625" y="3667125"/>
            <a:ext cx="428625" cy="119062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FB6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5"/>
          <p:cNvSpPr/>
          <p:nvPr/>
        </p:nvSpPr>
        <p:spPr>
          <a:xfrm>
            <a:off x="5286375" y="2952750"/>
            <a:ext cx="1333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27D72"/>
                </a:solidFill>
                <a:latin typeface="Verdana"/>
                <a:ea typeface="Verdana"/>
                <a:cs typeface="Verdana"/>
                <a:sym typeface="Verdana"/>
              </a:rPr>
              <a:t>ΔG‡</a:t>
            </a:r>
            <a:endParaRPr/>
          </a:p>
        </p:txBody>
      </p:sp>
      <p:sp>
        <p:nvSpPr>
          <p:cNvPr id="296" name="Google Shape;296;p15"/>
          <p:cNvSpPr/>
          <p:nvPr/>
        </p:nvSpPr>
        <p:spPr>
          <a:xfrm>
            <a:off x="1666875" y="5429250"/>
            <a:ext cx="8858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Компромисс: хранение при температуре кожи и управляемый выпуск после снятия</a:t>
            </a:r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609600" y="6400800"/>
            <a:ext cx="10953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[1] Orrego-Hernández et al., 2020</a:t>
            </a:r>
            <a:r>
              <a:rPr lang="en-US" sz="1125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[2] Mansø et al., 2018</a:t>
            </a:r>
            <a:r>
              <a:rPr lang="en-US" sz="1125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5"/>
              </a:rPr>
              <a:t>[3] Jorner et al., 2017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"/>
          <p:cNvSpPr/>
          <p:nvPr/>
        </p:nvSpPr>
        <p:spPr>
          <a:xfrm>
            <a:off x="609600" y="381000"/>
            <a:ext cx="10572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Циклирование требует контроля химической чистоты</a:t>
            </a:r>
            <a:endParaRPr/>
          </a:p>
        </p:txBody>
      </p:sp>
      <p:sp>
        <p:nvSpPr>
          <p:cNvPr id="304" name="Google Shape;304;p16"/>
          <p:cNvSpPr/>
          <p:nvPr/>
        </p:nvSpPr>
        <p:spPr>
          <a:xfrm>
            <a:off x="609600" y="1028700"/>
            <a:ext cx="1123950" cy="47625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6"/>
          <p:cNvSpPr/>
          <p:nvPr/>
        </p:nvSpPr>
        <p:spPr>
          <a:xfrm>
            <a:off x="11144250" y="447675"/>
            <a:ext cx="495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14</a:t>
            </a:r>
            <a:endParaRPr/>
          </a:p>
        </p:txBody>
      </p:sp>
      <p:sp>
        <p:nvSpPr>
          <p:cNvPr id="306" name="Google Shape;306;p16"/>
          <p:cNvSpPr/>
          <p:nvPr/>
        </p:nvSpPr>
        <p:spPr>
          <a:xfrm>
            <a:off x="857250" y="1524000"/>
            <a:ext cx="5101500" cy="743100"/>
          </a:xfrm>
          <a:prstGeom prst="roundRect">
            <a:avLst>
              <a:gd fmla="val 10256" name="adj"/>
            </a:avLst>
          </a:prstGeom>
          <a:solidFill>
            <a:srgbClr val="EA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6"/>
          <p:cNvSpPr/>
          <p:nvPr/>
        </p:nvSpPr>
        <p:spPr>
          <a:xfrm>
            <a:off x="942900" y="1600350"/>
            <a:ext cx="49302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6D42E8"/>
                </a:solidFill>
                <a:latin typeface="Verdana"/>
                <a:ea typeface="Verdana"/>
                <a:cs typeface="Verdana"/>
                <a:sym typeface="Verdana"/>
              </a:rPr>
              <a:t>C(t) = C₀ exp(−k_deg*t)</a:t>
            </a:r>
            <a:endParaRPr/>
          </a:p>
        </p:txBody>
      </p:sp>
      <p:sp>
        <p:nvSpPr>
          <p:cNvPr id="308" name="Google Shape;308;p16"/>
          <p:cNvSpPr/>
          <p:nvPr/>
        </p:nvSpPr>
        <p:spPr>
          <a:xfrm>
            <a:off x="6810375" y="1524000"/>
            <a:ext cx="4524375" cy="742950"/>
          </a:xfrm>
          <a:prstGeom prst="roundRect">
            <a:avLst>
              <a:gd fmla="val 10256" name="adj"/>
            </a:avLst>
          </a:prstGeom>
          <a:solidFill>
            <a:srgbClr val="EA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"/>
          <p:cNvSpPr/>
          <p:nvPr/>
        </p:nvSpPr>
        <p:spPr>
          <a:xfrm>
            <a:off x="6981825" y="1600200"/>
            <a:ext cx="41814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B6AA"/>
                </a:solidFill>
                <a:latin typeface="Verdana"/>
                <a:ea typeface="Verdana"/>
                <a:cs typeface="Verdana"/>
                <a:sym typeface="Verdana"/>
              </a:rPr>
              <a:t>R_N = E_N / E₀</a:t>
            </a:r>
            <a:endParaRPr b="1" sz="2000">
              <a:solidFill>
                <a:srgbClr val="1FB6A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857250" y="3190875"/>
            <a:ext cx="1333500" cy="666750"/>
          </a:xfrm>
          <a:prstGeom prst="rect">
            <a:avLst/>
          </a:prstGeom>
          <a:solidFill>
            <a:srgbClr val="EAF1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6D42E8"/>
                </a:solidFill>
                <a:latin typeface="Verdana"/>
                <a:ea typeface="Verdana"/>
                <a:cs typeface="Verdana"/>
                <a:sym typeface="Verdana"/>
              </a:rPr>
              <a:t>NBD</a:t>
            </a:r>
            <a:endParaRPr/>
          </a:p>
        </p:txBody>
      </p:sp>
      <p:sp>
        <p:nvSpPr>
          <p:cNvPr id="311" name="Google Shape;311;p16"/>
          <p:cNvSpPr/>
          <p:nvPr/>
        </p:nvSpPr>
        <p:spPr>
          <a:xfrm>
            <a:off x="2238375" y="3352800"/>
            <a:ext cx="619125" cy="3238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8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6"/>
          <p:cNvSpPr/>
          <p:nvPr/>
        </p:nvSpPr>
        <p:spPr>
          <a:xfrm>
            <a:off x="3000375" y="3190875"/>
            <a:ext cx="1333500" cy="666750"/>
          </a:xfrm>
          <a:prstGeom prst="rect">
            <a:avLst/>
          </a:prstGeom>
          <a:solidFill>
            <a:srgbClr val="EAF1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FB6AA"/>
                </a:solidFill>
                <a:latin typeface="Verdana"/>
                <a:ea typeface="Verdana"/>
                <a:cs typeface="Verdana"/>
                <a:sym typeface="Verdana"/>
              </a:rPr>
              <a:t>QC</a:t>
            </a:r>
            <a:endParaRPr/>
          </a:p>
        </p:txBody>
      </p:sp>
      <p:sp>
        <p:nvSpPr>
          <p:cNvPr id="313" name="Google Shape;313;p16"/>
          <p:cNvSpPr/>
          <p:nvPr/>
        </p:nvSpPr>
        <p:spPr>
          <a:xfrm>
            <a:off x="4381500" y="3352800"/>
            <a:ext cx="619125" cy="3238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FB6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6"/>
          <p:cNvSpPr/>
          <p:nvPr/>
        </p:nvSpPr>
        <p:spPr>
          <a:xfrm>
            <a:off x="5143500" y="3190875"/>
            <a:ext cx="1333500" cy="666750"/>
          </a:xfrm>
          <a:prstGeom prst="rect">
            <a:avLst/>
          </a:prstGeom>
          <a:solidFill>
            <a:srgbClr val="EAF1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6D42E8"/>
                </a:solidFill>
                <a:latin typeface="Verdana"/>
                <a:ea typeface="Verdana"/>
                <a:cs typeface="Verdana"/>
                <a:sym typeface="Verdana"/>
              </a:rPr>
              <a:t>NBD</a:t>
            </a:r>
            <a:endParaRPr/>
          </a:p>
        </p:txBody>
      </p:sp>
      <p:sp>
        <p:nvSpPr>
          <p:cNvPr id="315" name="Google Shape;315;p16"/>
          <p:cNvSpPr/>
          <p:nvPr/>
        </p:nvSpPr>
        <p:spPr>
          <a:xfrm>
            <a:off x="6524625" y="3352800"/>
            <a:ext cx="619125" cy="3238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8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6"/>
          <p:cNvSpPr/>
          <p:nvPr/>
        </p:nvSpPr>
        <p:spPr>
          <a:xfrm>
            <a:off x="7286625" y="3190875"/>
            <a:ext cx="1333500" cy="666750"/>
          </a:xfrm>
          <a:prstGeom prst="rect">
            <a:avLst/>
          </a:prstGeom>
          <a:solidFill>
            <a:srgbClr val="EAF1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FB6AA"/>
                </a:solidFill>
                <a:latin typeface="Verdana"/>
                <a:ea typeface="Verdana"/>
                <a:cs typeface="Verdana"/>
                <a:sym typeface="Verdana"/>
              </a:rPr>
              <a:t>QC</a:t>
            </a:r>
            <a:endParaRPr/>
          </a:p>
        </p:txBody>
      </p:sp>
      <p:sp>
        <p:nvSpPr>
          <p:cNvPr id="317" name="Google Shape;317;p16"/>
          <p:cNvSpPr/>
          <p:nvPr/>
        </p:nvSpPr>
        <p:spPr>
          <a:xfrm>
            <a:off x="8667750" y="3352800"/>
            <a:ext cx="619125" cy="3238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FB6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6"/>
          <p:cNvSpPr/>
          <p:nvPr/>
        </p:nvSpPr>
        <p:spPr>
          <a:xfrm>
            <a:off x="9429750" y="3190875"/>
            <a:ext cx="1333500" cy="666750"/>
          </a:xfrm>
          <a:prstGeom prst="rect">
            <a:avLst/>
          </a:prstGeom>
          <a:solidFill>
            <a:srgbClr val="EAF1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6D42E8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  <p:sp>
        <p:nvSpPr>
          <p:cNvPr id="319" name="Google Shape;319;p16"/>
          <p:cNvSpPr/>
          <p:nvPr/>
        </p:nvSpPr>
        <p:spPr>
          <a:xfrm>
            <a:off x="1806270" y="4729491"/>
            <a:ext cx="2762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A9D72"/>
                </a:solidFill>
                <a:latin typeface="Verdana"/>
                <a:ea typeface="Verdana"/>
                <a:cs typeface="Verdana"/>
                <a:sym typeface="Verdana"/>
              </a:rPr>
              <a:t>UV–Vis сохранён</a:t>
            </a:r>
            <a:endParaRPr/>
          </a:p>
        </p:txBody>
      </p:sp>
      <p:sp>
        <p:nvSpPr>
          <p:cNvPr id="320" name="Google Shape;320;p16"/>
          <p:cNvSpPr/>
          <p:nvPr/>
        </p:nvSpPr>
        <p:spPr>
          <a:xfrm>
            <a:off x="4711395" y="4729491"/>
            <a:ext cx="6669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F27D72"/>
                </a:solidFill>
                <a:latin typeface="Verdana"/>
                <a:ea typeface="Verdana"/>
                <a:cs typeface="Verdana"/>
                <a:sym typeface="Verdana"/>
              </a:rPr>
              <a:t>≠</a:t>
            </a:r>
            <a:endParaRPr/>
          </a:p>
        </p:txBody>
      </p:sp>
      <p:sp>
        <p:nvSpPr>
          <p:cNvPr id="321" name="Google Shape;321;p16"/>
          <p:cNvSpPr/>
          <p:nvPr/>
        </p:nvSpPr>
        <p:spPr>
          <a:xfrm>
            <a:off x="5425770" y="4634241"/>
            <a:ext cx="4953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27D72"/>
                </a:solidFill>
                <a:latin typeface="Verdana"/>
                <a:ea typeface="Verdana"/>
                <a:cs typeface="Verdana"/>
                <a:sym typeface="Verdana"/>
              </a:rPr>
              <a:t>нет токсичных фотопродуктов</a:t>
            </a:r>
            <a:endParaRPr/>
          </a:p>
        </p:txBody>
      </p:sp>
      <p:sp>
        <p:nvSpPr>
          <p:cNvPr id="322" name="Google Shape;322;p16"/>
          <p:cNvSpPr/>
          <p:nvPr/>
        </p:nvSpPr>
        <p:spPr>
          <a:xfrm>
            <a:off x="2619375" y="5381625"/>
            <a:ext cx="6953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Нужны LC–MS / NMR и материальный баланс</a:t>
            </a:r>
            <a:endParaRPr/>
          </a:p>
        </p:txBody>
      </p:sp>
      <p:sp>
        <p:nvSpPr>
          <p:cNvPr id="323" name="Google Shape;323;p16"/>
          <p:cNvSpPr/>
          <p:nvPr/>
        </p:nvSpPr>
        <p:spPr>
          <a:xfrm>
            <a:off x="609600" y="6400800"/>
            <a:ext cx="10953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[1] Orrego-Hernández et al., 2020</a:t>
            </a:r>
            <a:r>
              <a:rPr lang="en-US" sz="1125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[2] Mansø et al., 2018</a:t>
            </a:r>
            <a:r>
              <a:rPr lang="en-US" sz="1125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5"/>
              </a:rPr>
              <a:t>[16] IUPAC Photochemistry Glossary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7"/>
          <p:cNvSpPr/>
          <p:nvPr/>
        </p:nvSpPr>
        <p:spPr>
          <a:xfrm>
            <a:off x="609600" y="381000"/>
            <a:ext cx="10572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Плёнка меняет свойства молекул</a:t>
            </a:r>
            <a:endParaRPr/>
          </a:p>
        </p:txBody>
      </p:sp>
      <p:sp>
        <p:nvSpPr>
          <p:cNvPr id="330" name="Google Shape;330;p17"/>
          <p:cNvSpPr/>
          <p:nvPr/>
        </p:nvSpPr>
        <p:spPr>
          <a:xfrm>
            <a:off x="609600" y="1028700"/>
            <a:ext cx="1123950" cy="47625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7"/>
          <p:cNvSpPr/>
          <p:nvPr/>
        </p:nvSpPr>
        <p:spPr>
          <a:xfrm>
            <a:off x="11144250" y="447675"/>
            <a:ext cx="495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15</a:t>
            </a:r>
            <a:endParaRPr/>
          </a:p>
        </p:txBody>
      </p:sp>
      <p:sp>
        <p:nvSpPr>
          <p:cNvPr id="332" name="Google Shape;332;p17"/>
          <p:cNvSpPr/>
          <p:nvPr/>
        </p:nvSpPr>
        <p:spPr>
          <a:xfrm>
            <a:off x="4000500" y="1381125"/>
            <a:ext cx="4191000" cy="666750"/>
          </a:xfrm>
          <a:prstGeom prst="roundRect">
            <a:avLst>
              <a:gd fmla="val 11429" name="adj"/>
            </a:avLst>
          </a:prstGeom>
          <a:solidFill>
            <a:srgbClr val="EA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7"/>
          <p:cNvSpPr/>
          <p:nvPr/>
        </p:nvSpPr>
        <p:spPr>
          <a:xfrm>
            <a:off x="4171950" y="1457325"/>
            <a:ext cx="3848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CV_h = σ_h / h̄</a:t>
            </a:r>
            <a:endParaRPr/>
          </a:p>
        </p:txBody>
      </p:sp>
      <p:sp>
        <p:nvSpPr>
          <p:cNvPr id="334" name="Google Shape;334;p17"/>
          <p:cNvSpPr/>
          <p:nvPr/>
        </p:nvSpPr>
        <p:spPr>
          <a:xfrm>
            <a:off x="1143000" y="2476500"/>
            <a:ext cx="4095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FB6AA"/>
                </a:solidFill>
                <a:latin typeface="Verdana"/>
                <a:ea typeface="Verdana"/>
                <a:cs typeface="Verdana"/>
                <a:sym typeface="Verdana"/>
              </a:rPr>
              <a:t>Однородная плёнка</a:t>
            </a:r>
            <a:endParaRPr/>
          </a:p>
        </p:txBody>
      </p:sp>
      <p:sp>
        <p:nvSpPr>
          <p:cNvPr id="335" name="Google Shape;335;p17"/>
          <p:cNvSpPr/>
          <p:nvPr/>
        </p:nvSpPr>
        <p:spPr>
          <a:xfrm>
            <a:off x="952500" y="3048000"/>
            <a:ext cx="4476750" cy="428625"/>
          </a:xfrm>
          <a:prstGeom prst="rect">
            <a:avLst/>
          </a:prstGeom>
          <a:solidFill>
            <a:srgbClr val="1FB6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7"/>
          <p:cNvSpPr/>
          <p:nvPr/>
        </p:nvSpPr>
        <p:spPr>
          <a:xfrm>
            <a:off x="952500" y="3476625"/>
            <a:ext cx="4476750" cy="1095375"/>
          </a:xfrm>
          <a:prstGeom prst="rect">
            <a:avLst/>
          </a:prstGeom>
          <a:solidFill>
            <a:srgbClr val="F3C5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7"/>
          <p:cNvSpPr/>
          <p:nvPr/>
        </p:nvSpPr>
        <p:spPr>
          <a:xfrm>
            <a:off x="1190625" y="3162300"/>
            <a:ext cx="190500" cy="190500"/>
          </a:xfrm>
          <a:prstGeom prst="ellipse">
            <a:avLst/>
          </a:prstGeom>
          <a:solidFill>
            <a:srgbClr val="FFC8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7"/>
          <p:cNvSpPr/>
          <p:nvPr/>
        </p:nvSpPr>
        <p:spPr>
          <a:xfrm>
            <a:off x="1685925" y="3162300"/>
            <a:ext cx="190500" cy="190500"/>
          </a:xfrm>
          <a:prstGeom prst="ellipse">
            <a:avLst/>
          </a:prstGeom>
          <a:solidFill>
            <a:srgbClr val="FFC8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7"/>
          <p:cNvSpPr/>
          <p:nvPr/>
        </p:nvSpPr>
        <p:spPr>
          <a:xfrm>
            <a:off x="2181225" y="3162300"/>
            <a:ext cx="190500" cy="190500"/>
          </a:xfrm>
          <a:prstGeom prst="ellipse">
            <a:avLst/>
          </a:prstGeom>
          <a:solidFill>
            <a:srgbClr val="FFC8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7"/>
          <p:cNvSpPr/>
          <p:nvPr/>
        </p:nvSpPr>
        <p:spPr>
          <a:xfrm>
            <a:off x="2676525" y="3162300"/>
            <a:ext cx="190500" cy="190500"/>
          </a:xfrm>
          <a:prstGeom prst="ellipse">
            <a:avLst/>
          </a:prstGeom>
          <a:solidFill>
            <a:srgbClr val="FFC8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7"/>
          <p:cNvSpPr/>
          <p:nvPr/>
        </p:nvSpPr>
        <p:spPr>
          <a:xfrm>
            <a:off x="3171825" y="3162300"/>
            <a:ext cx="190500" cy="190500"/>
          </a:xfrm>
          <a:prstGeom prst="ellipse">
            <a:avLst/>
          </a:prstGeom>
          <a:solidFill>
            <a:srgbClr val="FFC8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7"/>
          <p:cNvSpPr/>
          <p:nvPr/>
        </p:nvSpPr>
        <p:spPr>
          <a:xfrm>
            <a:off x="3667125" y="3162300"/>
            <a:ext cx="190500" cy="190500"/>
          </a:xfrm>
          <a:prstGeom prst="ellipse">
            <a:avLst/>
          </a:prstGeom>
          <a:solidFill>
            <a:srgbClr val="FFC8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7"/>
          <p:cNvSpPr/>
          <p:nvPr/>
        </p:nvSpPr>
        <p:spPr>
          <a:xfrm>
            <a:off x="4162425" y="3162300"/>
            <a:ext cx="190500" cy="190500"/>
          </a:xfrm>
          <a:prstGeom prst="ellipse">
            <a:avLst/>
          </a:prstGeom>
          <a:solidFill>
            <a:srgbClr val="FFC8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7"/>
          <p:cNvSpPr/>
          <p:nvPr/>
        </p:nvSpPr>
        <p:spPr>
          <a:xfrm>
            <a:off x="4657725" y="3162300"/>
            <a:ext cx="190500" cy="190500"/>
          </a:xfrm>
          <a:prstGeom prst="ellipse">
            <a:avLst/>
          </a:prstGeom>
          <a:solidFill>
            <a:srgbClr val="FFC8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7"/>
          <p:cNvSpPr/>
          <p:nvPr/>
        </p:nvSpPr>
        <p:spPr>
          <a:xfrm>
            <a:off x="6953250" y="2476500"/>
            <a:ext cx="4095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F27D72"/>
                </a:solidFill>
                <a:latin typeface="Verdana"/>
                <a:ea typeface="Verdana"/>
                <a:cs typeface="Verdana"/>
                <a:sym typeface="Verdana"/>
              </a:rPr>
              <a:t>Плёнка с дефектами</a:t>
            </a:r>
            <a:endParaRPr/>
          </a:p>
        </p:txBody>
      </p:sp>
      <p:sp>
        <p:nvSpPr>
          <p:cNvPr id="346" name="Google Shape;346;p17"/>
          <p:cNvSpPr/>
          <p:nvPr/>
        </p:nvSpPr>
        <p:spPr>
          <a:xfrm>
            <a:off x="6762750" y="3048000"/>
            <a:ext cx="4476750" cy="428625"/>
          </a:xfrm>
          <a:prstGeom prst="rect">
            <a:avLst/>
          </a:prstGeom>
          <a:solidFill>
            <a:srgbClr val="A8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7"/>
          <p:cNvSpPr/>
          <p:nvPr/>
        </p:nvSpPr>
        <p:spPr>
          <a:xfrm>
            <a:off x="6762750" y="3476625"/>
            <a:ext cx="4476750" cy="1095375"/>
          </a:xfrm>
          <a:prstGeom prst="rect">
            <a:avLst/>
          </a:prstGeom>
          <a:solidFill>
            <a:srgbClr val="F3C5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7"/>
          <p:cNvSpPr/>
          <p:nvPr/>
        </p:nvSpPr>
        <p:spPr>
          <a:xfrm>
            <a:off x="8096250" y="3028950"/>
            <a:ext cx="904875" cy="49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7"/>
          <p:cNvSpPr/>
          <p:nvPr/>
        </p:nvSpPr>
        <p:spPr>
          <a:xfrm>
            <a:off x="9906000" y="3028950"/>
            <a:ext cx="438150" cy="49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1524000" y="5000625"/>
            <a:ext cx="9144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толщина, кристаллизация, вода и себум, адгезия, механика</a:t>
            </a:r>
            <a:endParaRPr/>
          </a:p>
        </p:txBody>
      </p:sp>
      <p:sp>
        <p:nvSpPr>
          <p:cNvPr id="351" name="Google Shape;351;p17"/>
          <p:cNvSpPr/>
          <p:nvPr/>
        </p:nvSpPr>
        <p:spPr>
          <a:xfrm>
            <a:off x="609600" y="6400800"/>
            <a:ext cx="10953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[4] Diffey et al., 2000</a:t>
            </a:r>
            <a:r>
              <a:rPr lang="en-US" sz="1125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[6] Nitulescu et al., 2023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8"/>
          <p:cNvSpPr/>
          <p:nvPr/>
        </p:nvSpPr>
        <p:spPr>
          <a:xfrm>
            <a:off x="609600" y="381000"/>
            <a:ext cx="10572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Проникновение через кожу и безопасность</a:t>
            </a:r>
            <a:endParaRPr/>
          </a:p>
        </p:txBody>
      </p:sp>
      <p:sp>
        <p:nvSpPr>
          <p:cNvPr id="358" name="Google Shape;358;p18"/>
          <p:cNvSpPr/>
          <p:nvPr/>
        </p:nvSpPr>
        <p:spPr>
          <a:xfrm>
            <a:off x="609600" y="1028700"/>
            <a:ext cx="1123950" cy="47625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8"/>
          <p:cNvSpPr/>
          <p:nvPr/>
        </p:nvSpPr>
        <p:spPr>
          <a:xfrm>
            <a:off x="11144250" y="447675"/>
            <a:ext cx="495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16</a:t>
            </a:r>
            <a:endParaRPr/>
          </a:p>
        </p:txBody>
      </p:sp>
      <p:sp>
        <p:nvSpPr>
          <p:cNvPr id="360" name="Google Shape;360;p18"/>
          <p:cNvSpPr/>
          <p:nvPr/>
        </p:nvSpPr>
        <p:spPr>
          <a:xfrm>
            <a:off x="762000" y="1476375"/>
            <a:ext cx="4048125" cy="685800"/>
          </a:xfrm>
          <a:prstGeom prst="roundRect">
            <a:avLst>
              <a:gd fmla="val 11111" name="adj"/>
            </a:avLst>
          </a:prstGeom>
          <a:solidFill>
            <a:srgbClr val="EA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8"/>
          <p:cNvSpPr/>
          <p:nvPr/>
        </p:nvSpPr>
        <p:spPr>
          <a:xfrm>
            <a:off x="933450" y="1552575"/>
            <a:ext cx="37052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6D42E8"/>
                </a:solidFill>
                <a:latin typeface="Verdana"/>
                <a:ea typeface="Verdana"/>
                <a:cs typeface="Verdana"/>
                <a:sym typeface="Verdana"/>
              </a:rPr>
              <a:t>J = −D dC/dx</a:t>
            </a:r>
            <a:endParaRPr/>
          </a:p>
        </p:txBody>
      </p:sp>
      <p:sp>
        <p:nvSpPr>
          <p:cNvPr id="362" name="Google Shape;362;p18"/>
          <p:cNvSpPr/>
          <p:nvPr/>
        </p:nvSpPr>
        <p:spPr>
          <a:xfrm>
            <a:off x="5334000" y="1476375"/>
            <a:ext cx="6096000" cy="685800"/>
          </a:xfrm>
          <a:prstGeom prst="roundRect">
            <a:avLst>
              <a:gd fmla="val 11111" name="adj"/>
            </a:avLst>
          </a:prstGeom>
          <a:solidFill>
            <a:srgbClr val="EA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8"/>
          <p:cNvSpPr/>
          <p:nvPr/>
        </p:nvSpPr>
        <p:spPr>
          <a:xfrm>
            <a:off x="5505450" y="1552575"/>
            <a:ext cx="57531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FB6AA"/>
                </a:solidFill>
                <a:latin typeface="Verdana"/>
                <a:ea typeface="Verdana"/>
                <a:cs typeface="Verdana"/>
                <a:sym typeface="Verdana"/>
              </a:rPr>
              <a:t>J_ss = K_p ΔC = (K D / L) ΔC</a:t>
            </a:r>
            <a:endParaRPr/>
          </a:p>
        </p:txBody>
      </p:sp>
      <p:sp>
        <p:nvSpPr>
          <p:cNvPr id="364" name="Google Shape;364;p18"/>
          <p:cNvSpPr/>
          <p:nvPr/>
        </p:nvSpPr>
        <p:spPr>
          <a:xfrm>
            <a:off x="1000125" y="3000375"/>
            <a:ext cx="7239000" cy="457200"/>
          </a:xfrm>
          <a:prstGeom prst="rect">
            <a:avLst/>
          </a:prstGeom>
          <a:solidFill>
            <a:srgbClr val="FFC8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8"/>
          <p:cNvSpPr/>
          <p:nvPr/>
        </p:nvSpPr>
        <p:spPr>
          <a:xfrm>
            <a:off x="1047750" y="3057525"/>
            <a:ext cx="7143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съёмная плёнка</a:t>
            </a:r>
            <a:endParaRPr/>
          </a:p>
        </p:txBody>
      </p:sp>
      <p:sp>
        <p:nvSpPr>
          <p:cNvPr id="366" name="Google Shape;366;p18"/>
          <p:cNvSpPr/>
          <p:nvPr/>
        </p:nvSpPr>
        <p:spPr>
          <a:xfrm>
            <a:off x="1000125" y="3457575"/>
            <a:ext cx="7239000" cy="533400"/>
          </a:xfrm>
          <a:prstGeom prst="rect">
            <a:avLst/>
          </a:prstGeom>
          <a:solidFill>
            <a:srgbClr val="E9B8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8"/>
          <p:cNvSpPr/>
          <p:nvPr/>
        </p:nvSpPr>
        <p:spPr>
          <a:xfrm>
            <a:off x="1047750" y="3543300"/>
            <a:ext cx="7143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stratum corneum</a:t>
            </a:r>
            <a:endParaRPr/>
          </a:p>
        </p:txBody>
      </p:sp>
      <p:sp>
        <p:nvSpPr>
          <p:cNvPr id="368" name="Google Shape;368;p18"/>
          <p:cNvSpPr/>
          <p:nvPr/>
        </p:nvSpPr>
        <p:spPr>
          <a:xfrm>
            <a:off x="1000125" y="3990975"/>
            <a:ext cx="7239000" cy="742950"/>
          </a:xfrm>
          <a:prstGeom prst="rect">
            <a:avLst/>
          </a:prstGeom>
          <a:solidFill>
            <a:srgbClr val="E89A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8"/>
          <p:cNvSpPr/>
          <p:nvPr/>
        </p:nvSpPr>
        <p:spPr>
          <a:xfrm>
            <a:off x="1047750" y="4171950"/>
            <a:ext cx="7143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эпидермис</a:t>
            </a:r>
            <a:endParaRPr/>
          </a:p>
        </p:txBody>
      </p:sp>
      <p:sp>
        <p:nvSpPr>
          <p:cNvPr id="370" name="Google Shape;370;p18"/>
          <p:cNvSpPr/>
          <p:nvPr/>
        </p:nvSpPr>
        <p:spPr>
          <a:xfrm>
            <a:off x="1000125" y="4733925"/>
            <a:ext cx="7239000" cy="742950"/>
          </a:xfrm>
          <a:prstGeom prst="rect">
            <a:avLst/>
          </a:prstGeom>
          <a:solidFill>
            <a:srgbClr val="C875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8"/>
          <p:cNvSpPr/>
          <p:nvPr/>
        </p:nvSpPr>
        <p:spPr>
          <a:xfrm>
            <a:off x="1047750" y="4914900"/>
            <a:ext cx="7143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дерма</a:t>
            </a:r>
            <a:endParaRPr/>
          </a:p>
        </p:txBody>
      </p:sp>
      <p:sp>
        <p:nvSpPr>
          <p:cNvPr id="372" name="Google Shape;372;p18"/>
          <p:cNvSpPr/>
          <p:nvPr/>
        </p:nvSpPr>
        <p:spPr>
          <a:xfrm>
            <a:off x="7524750" y="2647950"/>
            <a:ext cx="514350" cy="249555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8"/>
          <p:cNvSpPr/>
          <p:nvPr/>
        </p:nvSpPr>
        <p:spPr>
          <a:xfrm>
            <a:off x="6762750" y="4095750"/>
            <a:ext cx="1000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6D42E8"/>
                </a:solidFill>
                <a:latin typeface="Verdana"/>
                <a:ea typeface="Verdana"/>
                <a:cs typeface="Verdana"/>
                <a:sym typeface="Verdana"/>
              </a:rPr>
              <a:t>поток J</a:t>
            </a:r>
            <a:endParaRPr/>
          </a:p>
        </p:txBody>
      </p:sp>
      <p:sp>
        <p:nvSpPr>
          <p:cNvPr id="374" name="Google Shape;374;p18"/>
          <p:cNvSpPr/>
          <p:nvPr/>
        </p:nvSpPr>
        <p:spPr>
          <a:xfrm>
            <a:off x="8572500" y="2857500"/>
            <a:ext cx="3000375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3263A"/>
              </a:buClr>
              <a:buSzPts val="1500"/>
              <a:buFont typeface="Verdana"/>
              <a:buChar char="•"/>
            </a:pPr>
            <a:r>
              <a:rPr lang="en-US" sz="1500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QSAR или MD: только triage и гипотезы</a:t>
            </a:r>
            <a:endParaRPr/>
          </a:p>
          <a:p>
            <a:pPr indent="-1143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13263A"/>
              </a:buClr>
              <a:buSzPts val="1500"/>
              <a:buFont typeface="Verdana"/>
              <a:buChar char="•"/>
            </a:pPr>
            <a:r>
              <a:rPr lang="en-US" sz="1500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OECD 428: измерение проникновения</a:t>
            </a:r>
            <a:endParaRPr/>
          </a:p>
          <a:p>
            <a:pPr indent="-1143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13263A"/>
              </a:buClr>
              <a:buSzPts val="1500"/>
              <a:buFont typeface="Verdana"/>
              <a:buChar char="•"/>
            </a:pPr>
            <a:r>
              <a:rPr lang="en-US" sz="1500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OECD 432: фототоксичность in vitro</a:t>
            </a:r>
            <a:endParaRPr/>
          </a:p>
          <a:p>
            <a:pPr indent="-1143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13263A"/>
              </a:buClr>
              <a:buSzPts val="1500"/>
              <a:buFont typeface="Verdana"/>
              <a:buChar char="•"/>
            </a:pPr>
            <a:r>
              <a:rPr lang="en-US" sz="1500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Раздражение и фотопродукты: отдельные тесты</a:t>
            </a:r>
            <a:endParaRPr/>
          </a:p>
        </p:txBody>
      </p:sp>
      <p:sp>
        <p:nvSpPr>
          <p:cNvPr id="375" name="Google Shape;375;p18"/>
          <p:cNvSpPr/>
          <p:nvPr/>
        </p:nvSpPr>
        <p:spPr>
          <a:xfrm>
            <a:off x="609600" y="6400800"/>
            <a:ext cx="10953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[13] Martinez et al., 2023</a:t>
            </a:r>
            <a:r>
              <a:rPr lang="en-US" sz="1125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[14] OECD TG 428</a:t>
            </a:r>
            <a:r>
              <a:rPr lang="en-US" sz="1125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5"/>
              </a:rPr>
              <a:t>[15] OECD TG 432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A33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9"/>
          <p:cNvSpPr/>
          <p:nvPr/>
        </p:nvSpPr>
        <p:spPr>
          <a:xfrm>
            <a:off x="609600" y="381000"/>
            <a:ext cx="10572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Требования образуют систему, а не один score</a:t>
            </a:r>
            <a:endParaRPr/>
          </a:p>
        </p:txBody>
      </p:sp>
      <p:sp>
        <p:nvSpPr>
          <p:cNvPr id="382" name="Google Shape;382;p19"/>
          <p:cNvSpPr/>
          <p:nvPr/>
        </p:nvSpPr>
        <p:spPr>
          <a:xfrm>
            <a:off x="609600" y="1162050"/>
            <a:ext cx="1123800" cy="38100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9"/>
          <p:cNvSpPr/>
          <p:nvPr/>
        </p:nvSpPr>
        <p:spPr>
          <a:xfrm>
            <a:off x="11144250" y="447675"/>
            <a:ext cx="495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A88CFF"/>
                </a:solidFill>
                <a:latin typeface="Verdana"/>
                <a:ea typeface="Verdana"/>
                <a:cs typeface="Verdana"/>
                <a:sym typeface="Verdana"/>
              </a:rPr>
              <a:t>17</a:t>
            </a:r>
            <a:endParaRPr/>
          </a:p>
        </p:txBody>
      </p:sp>
      <p:sp>
        <p:nvSpPr>
          <p:cNvPr id="384" name="Google Shape;384;p19"/>
          <p:cNvSpPr/>
          <p:nvPr/>
        </p:nvSpPr>
        <p:spPr>
          <a:xfrm>
            <a:off x="857250" y="1428750"/>
            <a:ext cx="2428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A88CFF"/>
                </a:solidFill>
                <a:latin typeface="Verdana"/>
                <a:ea typeface="Verdana"/>
                <a:cs typeface="Verdana"/>
                <a:sym typeface="Verdana"/>
              </a:rPr>
              <a:t>UV-защита</a:t>
            </a:r>
            <a:endParaRPr/>
          </a:p>
        </p:txBody>
      </p:sp>
      <p:sp>
        <p:nvSpPr>
          <p:cNvPr id="385" name="Google Shape;385;p19"/>
          <p:cNvSpPr/>
          <p:nvPr/>
        </p:nvSpPr>
        <p:spPr>
          <a:xfrm>
            <a:off x="3476625" y="1504950"/>
            <a:ext cx="7239000" cy="419100"/>
          </a:xfrm>
          <a:prstGeom prst="roundRect">
            <a:avLst>
              <a:gd fmla="val 18182" name="adj"/>
            </a:avLst>
          </a:prstGeom>
          <a:solidFill>
            <a:srgbClr val="0D2A4A"/>
          </a:solidFill>
          <a:ln cap="flat" cmpd="sng" w="19050">
            <a:solidFill>
              <a:srgbClr val="A8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9"/>
          <p:cNvSpPr/>
          <p:nvPr/>
        </p:nvSpPr>
        <p:spPr>
          <a:xfrm>
            <a:off x="3714750" y="1524000"/>
            <a:ext cx="6762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спектр, SPF, UVA-PF, λc</a:t>
            </a:r>
            <a:endParaRPr/>
          </a:p>
        </p:txBody>
      </p:sp>
      <p:sp>
        <p:nvSpPr>
          <p:cNvPr id="387" name="Google Shape;387;p19"/>
          <p:cNvSpPr/>
          <p:nvPr/>
        </p:nvSpPr>
        <p:spPr>
          <a:xfrm>
            <a:off x="857250" y="2295525"/>
            <a:ext cx="2428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FC845"/>
                </a:solidFill>
                <a:latin typeface="Verdana"/>
                <a:ea typeface="Verdana"/>
                <a:cs typeface="Verdana"/>
                <a:sym typeface="Verdana"/>
              </a:rPr>
              <a:t>Фотохимия</a:t>
            </a:r>
            <a:endParaRPr/>
          </a:p>
        </p:txBody>
      </p:sp>
      <p:sp>
        <p:nvSpPr>
          <p:cNvPr id="388" name="Google Shape;388;p19"/>
          <p:cNvSpPr/>
          <p:nvPr/>
        </p:nvSpPr>
        <p:spPr>
          <a:xfrm>
            <a:off x="3476625" y="2371725"/>
            <a:ext cx="7239000" cy="419100"/>
          </a:xfrm>
          <a:prstGeom prst="roundRect">
            <a:avLst>
              <a:gd fmla="val 18182" name="adj"/>
            </a:avLst>
          </a:prstGeom>
          <a:solidFill>
            <a:srgbClr val="0D2A4A"/>
          </a:solidFill>
          <a:ln cap="flat" cmpd="sng" w="19050">
            <a:solidFill>
              <a:srgbClr val="FFC8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9"/>
          <p:cNvSpPr/>
          <p:nvPr/>
        </p:nvSpPr>
        <p:spPr>
          <a:xfrm>
            <a:off x="3714750" y="2390775"/>
            <a:ext cx="6762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Φ, PSS, ΔH, барьер, циклы</a:t>
            </a:r>
            <a:endParaRPr/>
          </a:p>
        </p:txBody>
      </p:sp>
      <p:sp>
        <p:nvSpPr>
          <p:cNvPr id="390" name="Google Shape;390;p19"/>
          <p:cNvSpPr/>
          <p:nvPr/>
        </p:nvSpPr>
        <p:spPr>
          <a:xfrm>
            <a:off x="857250" y="3162300"/>
            <a:ext cx="2428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27D72"/>
                </a:solidFill>
                <a:latin typeface="Verdana"/>
                <a:ea typeface="Verdana"/>
                <a:cs typeface="Verdana"/>
                <a:sym typeface="Verdana"/>
              </a:rPr>
              <a:t>Безопасность</a:t>
            </a:r>
            <a:endParaRPr/>
          </a:p>
        </p:txBody>
      </p:sp>
      <p:sp>
        <p:nvSpPr>
          <p:cNvPr id="391" name="Google Shape;391;p19"/>
          <p:cNvSpPr/>
          <p:nvPr/>
        </p:nvSpPr>
        <p:spPr>
          <a:xfrm>
            <a:off x="3476625" y="3238500"/>
            <a:ext cx="7239000" cy="419100"/>
          </a:xfrm>
          <a:prstGeom prst="roundRect">
            <a:avLst>
              <a:gd fmla="val 18182" name="adj"/>
            </a:avLst>
          </a:prstGeom>
          <a:solidFill>
            <a:srgbClr val="0D2A4A"/>
          </a:solidFill>
          <a:ln cap="flat" cmpd="sng" w="19050">
            <a:solidFill>
              <a:srgbClr val="F27D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9"/>
          <p:cNvSpPr/>
          <p:nvPr/>
        </p:nvSpPr>
        <p:spPr>
          <a:xfrm>
            <a:off x="3714750" y="3257550"/>
            <a:ext cx="6762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проникновение, раздражение, фототоксичность</a:t>
            </a:r>
            <a:endParaRPr/>
          </a:p>
        </p:txBody>
      </p:sp>
      <p:sp>
        <p:nvSpPr>
          <p:cNvPr id="393" name="Google Shape;393;p19"/>
          <p:cNvSpPr/>
          <p:nvPr/>
        </p:nvSpPr>
        <p:spPr>
          <a:xfrm>
            <a:off x="857250" y="4029075"/>
            <a:ext cx="2428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FB6AA"/>
                </a:solidFill>
                <a:latin typeface="Verdana"/>
                <a:ea typeface="Verdana"/>
                <a:cs typeface="Verdana"/>
                <a:sym typeface="Verdana"/>
              </a:rPr>
              <a:t>Плёнка</a:t>
            </a:r>
            <a:endParaRPr/>
          </a:p>
        </p:txBody>
      </p:sp>
      <p:sp>
        <p:nvSpPr>
          <p:cNvPr id="394" name="Google Shape;394;p19"/>
          <p:cNvSpPr/>
          <p:nvPr/>
        </p:nvSpPr>
        <p:spPr>
          <a:xfrm>
            <a:off x="3476625" y="4105275"/>
            <a:ext cx="7239000" cy="419100"/>
          </a:xfrm>
          <a:prstGeom prst="roundRect">
            <a:avLst>
              <a:gd fmla="val 18182" name="adj"/>
            </a:avLst>
          </a:prstGeom>
          <a:solidFill>
            <a:srgbClr val="0D2A4A"/>
          </a:solidFill>
          <a:ln cap="flat" cmpd="sng" w="19050">
            <a:solidFill>
              <a:srgbClr val="1FB6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9"/>
          <p:cNvSpPr/>
          <p:nvPr/>
        </p:nvSpPr>
        <p:spPr>
          <a:xfrm>
            <a:off x="3714750" y="4124325"/>
            <a:ext cx="6762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равномерность, адгезия, снятие, хранение</a:t>
            </a:r>
            <a:endParaRPr/>
          </a:p>
        </p:txBody>
      </p:sp>
      <p:sp>
        <p:nvSpPr>
          <p:cNvPr id="396" name="Google Shape;396;p19"/>
          <p:cNvSpPr/>
          <p:nvPr/>
        </p:nvSpPr>
        <p:spPr>
          <a:xfrm>
            <a:off x="857250" y="4895850"/>
            <a:ext cx="2428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55D8FF"/>
                </a:solidFill>
                <a:latin typeface="Verdana"/>
                <a:ea typeface="Verdana"/>
                <a:cs typeface="Verdana"/>
                <a:sym typeface="Verdana"/>
              </a:rPr>
              <a:t>Практичность</a:t>
            </a:r>
            <a:endParaRPr/>
          </a:p>
        </p:txBody>
      </p:sp>
      <p:sp>
        <p:nvSpPr>
          <p:cNvPr id="397" name="Google Shape;397;p19"/>
          <p:cNvSpPr/>
          <p:nvPr/>
        </p:nvSpPr>
        <p:spPr>
          <a:xfrm>
            <a:off x="3476625" y="4972050"/>
            <a:ext cx="7239000" cy="419100"/>
          </a:xfrm>
          <a:prstGeom prst="roundRect">
            <a:avLst>
              <a:gd fmla="val 18182" name="adj"/>
            </a:avLst>
          </a:prstGeom>
          <a:solidFill>
            <a:srgbClr val="0D2A4A"/>
          </a:solidFill>
          <a:ln cap="flat" cmpd="sng" w="19050">
            <a:solidFill>
              <a:srgbClr val="55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9"/>
          <p:cNvSpPr/>
          <p:nvPr/>
        </p:nvSpPr>
        <p:spPr>
          <a:xfrm>
            <a:off x="3714750" y="4991100"/>
            <a:ext cx="6762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синтез, растворимость, стоимость, извлечение</a:t>
            </a:r>
            <a:endParaRPr/>
          </a:p>
        </p:txBody>
      </p:sp>
      <p:sp>
        <p:nvSpPr>
          <p:cNvPr id="399" name="Google Shape;399;p19"/>
          <p:cNvSpPr/>
          <p:nvPr/>
        </p:nvSpPr>
        <p:spPr>
          <a:xfrm>
            <a:off x="1466850" y="5719763"/>
            <a:ext cx="9239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Часть критериев задаёт жёсткие ограничения. Остальные ранжируют кандидатов или переходят в post-generation validation.</a:t>
            </a:r>
            <a:endParaRPr/>
          </a:p>
        </p:txBody>
      </p:sp>
      <p:sp>
        <p:nvSpPr>
          <p:cNvPr id="400" name="Google Shape;400;p19"/>
          <p:cNvSpPr/>
          <p:nvPr/>
        </p:nvSpPr>
        <p:spPr>
          <a:xfrm>
            <a:off x="609600" y="6400800"/>
            <a:ext cx="10953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[1] Orrego-Hernández et al., 2020</a:t>
            </a:r>
            <a:r>
              <a:rPr lang="en-US" sz="1125">
                <a:solidFill>
                  <a:srgbClr val="A88CFF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[6] Nitulescu et al., 2023</a:t>
            </a:r>
            <a:r>
              <a:rPr lang="en-US" sz="1125">
                <a:solidFill>
                  <a:srgbClr val="A88CFF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5"/>
              </a:rPr>
              <a:t>[7] ISO 24444:2019</a:t>
            </a:r>
            <a:r>
              <a:rPr lang="en-US" sz="1125">
                <a:solidFill>
                  <a:srgbClr val="A88CFF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6"/>
              </a:rPr>
              <a:t>[8] ISO 24443:2021</a:t>
            </a:r>
            <a:r>
              <a:rPr lang="en-US" sz="1125">
                <a:solidFill>
                  <a:srgbClr val="A88CFF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7"/>
              </a:rPr>
              <a:t>[13] Martinez et al., 2023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0"/>
          <p:cNvSpPr/>
          <p:nvPr/>
        </p:nvSpPr>
        <p:spPr>
          <a:xfrm>
            <a:off x="609600" y="381000"/>
            <a:ext cx="10572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Что можно оценить вычислительно</a:t>
            </a:r>
            <a:endParaRPr/>
          </a:p>
        </p:txBody>
      </p:sp>
      <p:sp>
        <p:nvSpPr>
          <p:cNvPr id="407" name="Google Shape;407;p20"/>
          <p:cNvSpPr/>
          <p:nvPr/>
        </p:nvSpPr>
        <p:spPr>
          <a:xfrm>
            <a:off x="609600" y="1028700"/>
            <a:ext cx="1123950" cy="47625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0"/>
          <p:cNvSpPr/>
          <p:nvPr/>
        </p:nvSpPr>
        <p:spPr>
          <a:xfrm>
            <a:off x="11144250" y="447675"/>
            <a:ext cx="495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18</a:t>
            </a:r>
            <a:endParaRPr/>
          </a:p>
        </p:txBody>
      </p:sp>
      <p:graphicFrame>
        <p:nvGraphicFramePr>
          <p:cNvPr id="409" name="Google Shape;409;p20"/>
          <p:cNvGraphicFramePr/>
          <p:nvPr/>
        </p:nvGraphicFramePr>
        <p:xfrm>
          <a:off x="523875" y="1381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{48AB86FB-4ECD-4009-B68B-419C96E9FB99}</a:tableStyleId>
              </a:tblPr>
              <a:tblGrid>
                <a:gridCol w="2333625"/>
                <a:gridCol w="2095500"/>
                <a:gridCol w="1952625"/>
                <a:gridCol w="2524125"/>
                <a:gridCol w="2238375"/>
              </a:tblGrid>
              <a:tr h="605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Verdana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Свойство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71A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Verdana"/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Эксперимент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71A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Verdana"/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ML / QSPR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71A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Verdana"/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DFT / TD-DFT / MD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71A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Verdana"/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Реальный тест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71A33"/>
                    </a:solidFill>
                  </a:tcPr>
                </a:tc>
              </a:tr>
              <a:tr h="605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125"/>
                        <a:buFont typeface="Verdana"/>
                        <a:buNone/>
                      </a:pPr>
                      <a:r>
                        <a:rPr b="1" lang="en-US" sz="1125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Спектр, ε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125"/>
                        <a:buFont typeface="Verdana"/>
                        <a:buNone/>
                      </a:pPr>
                      <a:r>
                        <a:rPr lang="en-US" sz="1125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★ спектр раствора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125"/>
                        <a:buFont typeface="Verdana"/>
                        <a:buNone/>
                      </a:pPr>
                      <a:r>
                        <a:rPr b="0" lang="en-US" sz="1125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△ screening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125"/>
                        <a:buFont typeface="Verdana"/>
                        <a:buNone/>
                      </a:pPr>
                      <a:r>
                        <a:rPr lang="en-US" sz="1125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△ тренд; нужна калибровка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125"/>
                        <a:buFont typeface="Verdana"/>
                        <a:buNone/>
                      </a:pPr>
                      <a:r>
                        <a:rPr b="0" lang="en-US" sz="1125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плёночный спектр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05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125"/>
                        <a:buFont typeface="Verdana"/>
                        <a:buNone/>
                      </a:pPr>
                      <a:r>
                        <a:rPr b="1" lang="en-US" sz="1125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ΔH, барьер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125"/>
                        <a:buFont typeface="Verdana"/>
                        <a:buNone/>
                      </a:pPr>
                      <a:r>
                        <a:rPr lang="en-US" sz="1125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★ калориметрия, кинетика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125"/>
                        <a:buFont typeface="Verdana"/>
                        <a:buNone/>
                      </a:pPr>
                      <a:r>
                        <a:rPr b="0" lang="en-US" sz="1125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△ при данных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125"/>
                        <a:buFont typeface="Verdana"/>
                        <a:buNone/>
                      </a:pPr>
                      <a:r>
                        <a:rPr lang="en-US" sz="1125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△ DFT; нужна калибровка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125"/>
                        <a:buFont typeface="Verdana"/>
                        <a:buNone/>
                      </a:pPr>
                      <a:r>
                        <a:rPr b="0" lang="en-US" sz="1125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тепловой выпуск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C"/>
                    </a:solidFill>
                  </a:tcPr>
                </a:tc>
              </a:tr>
              <a:tr h="605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125"/>
                        <a:buFont typeface="Verdana"/>
                        <a:buNone/>
                      </a:pPr>
                      <a:r>
                        <a:rPr b="1" lang="en-US" sz="1125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Φ, PSS, фотопродукты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125"/>
                        <a:buFont typeface="Verdana"/>
                        <a:buNone/>
                      </a:pPr>
                      <a:r>
                        <a:rPr lang="en-US" sz="1125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★ фотохимия, LC–MS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125"/>
                        <a:buFont typeface="Verdana"/>
                        <a:buNone/>
                      </a:pPr>
                      <a:r>
                        <a:rPr b="0" lang="en-US" sz="1125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△ ограниченно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125"/>
                        <a:buFont typeface="Verdana"/>
                        <a:buNone/>
                      </a:pPr>
                      <a:r>
                        <a:rPr b="0" lang="en-US" sz="1125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△ excited-state дорого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125"/>
                        <a:buFont typeface="Verdana"/>
                        <a:buNone/>
                      </a:pPr>
                      <a:r>
                        <a:rPr b="0" lang="en-US" sz="1125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★ обязательно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05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125"/>
                        <a:buFont typeface="Verdana"/>
                        <a:buNone/>
                      </a:pPr>
                      <a:r>
                        <a:rPr b="1" lang="en-US" sz="1125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Проникновение, токсичность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125"/>
                        <a:buFont typeface="Verdana"/>
                        <a:buNone/>
                      </a:pPr>
                      <a:r>
                        <a:rPr b="0" lang="en-US" sz="1125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 vitro / ex vivo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125"/>
                        <a:buFont typeface="Verdana"/>
                        <a:buNone/>
                      </a:pPr>
                      <a:r>
                        <a:rPr b="0" lang="en-US" sz="1125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△ triage + AD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125"/>
                        <a:buFont typeface="Verdana"/>
                        <a:buNone/>
                      </a:pPr>
                      <a:r>
                        <a:rPr b="0" lang="en-US" sz="1125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△ механизм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125"/>
                        <a:buFont typeface="Verdana"/>
                        <a:buNone/>
                      </a:pPr>
                      <a:r>
                        <a:rPr b="0" lang="en-US" sz="1125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★ OECD / продукт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C"/>
                    </a:solidFill>
                  </a:tcPr>
                </a:tc>
              </a:tr>
              <a:tr h="605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125"/>
                        <a:buFont typeface="Verdana"/>
                        <a:buNone/>
                      </a:pPr>
                      <a:r>
                        <a:rPr b="1" lang="en-US" sz="1125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SPF, UVA-PF, равномерность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125"/>
                        <a:buFont typeface="Verdana"/>
                        <a:buNone/>
                      </a:pPr>
                      <a:r>
                        <a:rPr lang="en-US" sz="1125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★ спектр плёнки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125"/>
                        <a:buFont typeface="Verdana"/>
                        <a:buNone/>
                      </a:pPr>
                      <a:r>
                        <a:rPr b="0" lang="en-US" sz="1125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△ proxy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125"/>
                        <a:buFont typeface="Verdana"/>
                        <a:buNone/>
                      </a:pPr>
                      <a:r>
                        <a:rPr b="0" lang="en-US" sz="1125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△ оптика + модель плёнки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125"/>
                        <a:buFont typeface="Verdana"/>
                        <a:buNone/>
                      </a:pPr>
                      <a:r>
                        <a:rPr b="0" lang="en-US" sz="1125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★ ISO / измерение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05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125"/>
                        <a:buFont typeface="Verdana"/>
                        <a:buNone/>
                      </a:pPr>
                      <a:r>
                        <a:rPr b="1" lang="en-US" sz="1125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Синтез, снятие, хранение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125"/>
                        <a:buFont typeface="Verdana"/>
                        <a:buNone/>
                      </a:pPr>
                      <a:r>
                        <a:rPr lang="en-US" sz="1125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★ синтез и старение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125"/>
                        <a:buFont typeface="Verdana"/>
                        <a:buNone/>
                      </a:pPr>
                      <a:r>
                        <a:rPr b="0" lang="en-US" sz="1125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△ SA / retrosynthesis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125"/>
                        <a:buFont typeface="Verdana"/>
                        <a:buNone/>
                      </a:pPr>
                      <a:r>
                        <a:rPr b="0" lang="en-US" sz="1125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△ MD / thermodynamics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125"/>
                        <a:buFont typeface="Verdana"/>
                        <a:buNone/>
                      </a:pPr>
                      <a:r>
                        <a:rPr b="0" lang="en-US" sz="1125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★ прототип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410" name="Google Shape;410;p20"/>
          <p:cNvSpPr/>
          <p:nvPr/>
        </p:nvSpPr>
        <p:spPr>
          <a:xfrm>
            <a:off x="1571625" y="5810250"/>
            <a:ext cx="9048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★ основной источник   △ proxy или triage   AD = applicability domain</a:t>
            </a:r>
            <a:endParaRPr/>
          </a:p>
        </p:txBody>
      </p:sp>
      <p:sp>
        <p:nvSpPr>
          <p:cNvPr id="411" name="Google Shape;411;p20"/>
          <p:cNvSpPr/>
          <p:nvPr/>
        </p:nvSpPr>
        <p:spPr>
          <a:xfrm>
            <a:off x="609600" y="6400800"/>
            <a:ext cx="10953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[1]</a:t>
            </a:r>
            <a:r>
              <a:rPr lang="en-US" sz="850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</a:rPr>
              <a:t> Orrego-Hernández 2020 · </a:t>
            </a:r>
            <a:r>
              <a:rPr lang="en-US" sz="8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[6]</a:t>
            </a:r>
            <a:r>
              <a:rPr lang="en-US" sz="850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</a:rPr>
              <a:t> Nitulescu 2023 · </a:t>
            </a:r>
            <a:r>
              <a:rPr lang="en-US" sz="8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[7–8]</a:t>
            </a:r>
            <a:r>
              <a:rPr lang="en-US" sz="850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</a:rPr>
              <a:t> ISO 24444/24443 · </a:t>
            </a:r>
            <a:r>
              <a:rPr lang="en-US" sz="8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[13]</a:t>
            </a:r>
            <a:r>
              <a:rPr lang="en-US" sz="850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</a:rPr>
              <a:t> Martinez 2023 · </a:t>
            </a:r>
            <a:r>
              <a:rPr lang="en-US" sz="8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[14–15]</a:t>
            </a:r>
            <a:r>
              <a:rPr lang="en-US" sz="850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</a:rPr>
              <a:t> OECD TG 428/432</a:t>
            </a:r>
            <a:endParaRPr sz="850">
              <a:solidFill>
                <a:srgbClr val="00A5A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1"/>
          <p:cNvSpPr/>
          <p:nvPr/>
        </p:nvSpPr>
        <p:spPr>
          <a:xfrm>
            <a:off x="609600" y="381000"/>
            <a:ext cx="10572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Данные размечены на разных молекулах</a:t>
            </a:r>
            <a:endParaRPr/>
          </a:p>
        </p:txBody>
      </p:sp>
      <p:sp>
        <p:nvSpPr>
          <p:cNvPr id="418" name="Google Shape;418;p21"/>
          <p:cNvSpPr/>
          <p:nvPr/>
        </p:nvSpPr>
        <p:spPr>
          <a:xfrm>
            <a:off x="609600" y="1028700"/>
            <a:ext cx="1123950" cy="47625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1"/>
          <p:cNvSpPr/>
          <p:nvPr/>
        </p:nvSpPr>
        <p:spPr>
          <a:xfrm>
            <a:off x="11144250" y="447675"/>
            <a:ext cx="495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19</a:t>
            </a:r>
            <a:endParaRPr/>
          </a:p>
        </p:txBody>
      </p:sp>
      <p:sp>
        <p:nvSpPr>
          <p:cNvPr id="420" name="Google Shape;420;p21"/>
          <p:cNvSpPr/>
          <p:nvPr/>
        </p:nvSpPr>
        <p:spPr>
          <a:xfrm>
            <a:off x="857250" y="1381125"/>
            <a:ext cx="10477500" cy="685800"/>
          </a:xfrm>
          <a:prstGeom prst="roundRect">
            <a:avLst>
              <a:gd fmla="val 11111" name="adj"/>
            </a:avLst>
          </a:prstGeom>
          <a:solidFill>
            <a:srgbClr val="EA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1"/>
          <p:cNvSpPr/>
          <p:nvPr/>
        </p:nvSpPr>
        <p:spPr>
          <a:xfrm>
            <a:off x="1028700" y="1390650"/>
            <a:ext cx="101346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D_A = {(x_i, y_i^A)},  i = 1…n_A       D_B = {(x_j, y_j^B)},  j = 1…n_B</a:t>
            </a:r>
            <a:endParaRPr b="1" sz="1450">
              <a:solidFill>
                <a:srgbClr val="071A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{x_i} ∩ {x_j} = ∅  по идентификаторам молекул</a:t>
            </a:r>
            <a:endParaRPr b="1" sz="1450">
              <a:solidFill>
                <a:srgbClr val="071A3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2" name="Google Shape;422;p21"/>
          <p:cNvSpPr/>
          <p:nvPr/>
        </p:nvSpPr>
        <p:spPr>
          <a:xfrm>
            <a:off x="1381125" y="2619375"/>
            <a:ext cx="4191000" cy="2476500"/>
          </a:xfrm>
          <a:prstGeom prst="ellipse">
            <a:avLst/>
          </a:prstGeom>
          <a:solidFill>
            <a:srgbClr val="E9E1FF"/>
          </a:solidFill>
          <a:ln cap="flat" cmpd="sng" w="28575">
            <a:solidFill>
              <a:srgbClr val="6D4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1"/>
          <p:cNvSpPr/>
          <p:nvPr/>
        </p:nvSpPr>
        <p:spPr>
          <a:xfrm>
            <a:off x="6619875" y="2619375"/>
            <a:ext cx="4191000" cy="2476500"/>
          </a:xfrm>
          <a:prstGeom prst="ellipse">
            <a:avLst/>
          </a:prstGeom>
          <a:solidFill>
            <a:srgbClr val="DDF8F4"/>
          </a:solidFill>
          <a:ln cap="flat" cmpd="sng" w="28575">
            <a:solidFill>
              <a:srgbClr val="1FB6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1"/>
          <p:cNvSpPr/>
          <p:nvPr/>
        </p:nvSpPr>
        <p:spPr>
          <a:xfrm>
            <a:off x="2619375" y="3095625"/>
            <a:ext cx="1714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6D42E8"/>
                </a:solidFill>
                <a:latin typeface="Verdana"/>
                <a:ea typeface="Verdana"/>
                <a:cs typeface="Verdana"/>
                <a:sym typeface="Verdana"/>
              </a:rPr>
              <a:t>D_A</a:t>
            </a:r>
            <a:endParaRPr/>
          </a:p>
        </p:txBody>
      </p:sp>
      <p:sp>
        <p:nvSpPr>
          <p:cNvPr id="425" name="Google Shape;425;p21"/>
          <p:cNvSpPr/>
          <p:nvPr/>
        </p:nvSpPr>
        <p:spPr>
          <a:xfrm>
            <a:off x="2047875" y="3714750"/>
            <a:ext cx="2857500" cy="90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D42E8"/>
                </a:solidFill>
                <a:latin typeface="Verdana"/>
                <a:ea typeface="Verdana"/>
                <a:cs typeface="Verdana"/>
                <a:sym typeface="Verdana"/>
              </a:rPr>
              <a:t>MOST / photoswitch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D42E8"/>
                </a:solidFill>
                <a:latin typeface="Verdana"/>
                <a:ea typeface="Verdana"/>
                <a:cs typeface="Verdana"/>
                <a:sym typeface="Verdana"/>
              </a:rPr>
              <a:t>Φ, PSS, ΔH, t₁/₂</a:t>
            </a:r>
            <a:endParaRPr/>
          </a:p>
        </p:txBody>
      </p:sp>
      <p:sp>
        <p:nvSpPr>
          <p:cNvPr id="426" name="Google Shape;426;p21"/>
          <p:cNvSpPr/>
          <p:nvPr/>
        </p:nvSpPr>
        <p:spPr>
          <a:xfrm>
            <a:off x="7858125" y="3095625"/>
            <a:ext cx="1714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FB6AA"/>
                </a:solidFill>
                <a:latin typeface="Verdana"/>
                <a:ea typeface="Verdana"/>
                <a:cs typeface="Verdana"/>
                <a:sym typeface="Verdana"/>
              </a:rPr>
              <a:t>D_B</a:t>
            </a:r>
            <a:endParaRPr/>
          </a:p>
        </p:txBody>
      </p:sp>
      <p:sp>
        <p:nvSpPr>
          <p:cNvPr id="427" name="Google Shape;427;p21"/>
          <p:cNvSpPr/>
          <p:nvPr/>
        </p:nvSpPr>
        <p:spPr>
          <a:xfrm>
            <a:off x="7286625" y="3714750"/>
            <a:ext cx="2857500" cy="90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FB6AA"/>
                </a:solidFill>
                <a:latin typeface="Verdana"/>
                <a:ea typeface="Verdana"/>
                <a:cs typeface="Verdana"/>
                <a:sym typeface="Verdana"/>
              </a:rPr>
              <a:t>UV / skin / formulation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FB6AA"/>
                </a:solidFill>
                <a:latin typeface="Verdana"/>
                <a:ea typeface="Verdana"/>
                <a:cs typeface="Verdana"/>
                <a:sym typeface="Verdana"/>
              </a:rPr>
              <a:t>спектр, safety, film</a:t>
            </a:r>
            <a:endParaRPr/>
          </a:p>
        </p:txBody>
      </p:sp>
      <p:sp>
        <p:nvSpPr>
          <p:cNvPr id="428" name="Google Shape;428;p21"/>
          <p:cNvSpPr/>
          <p:nvPr/>
        </p:nvSpPr>
        <p:spPr>
          <a:xfrm>
            <a:off x="4333875" y="5238750"/>
            <a:ext cx="3524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27D72"/>
                </a:solidFill>
                <a:latin typeface="Verdana"/>
                <a:ea typeface="Verdana"/>
                <a:cs typeface="Verdana"/>
                <a:sym typeface="Verdana"/>
              </a:rPr>
              <a:t>нет совместно размеченных молекул</a:t>
            </a:r>
            <a:endParaRPr/>
          </a:p>
        </p:txBody>
      </p:sp>
      <p:sp>
        <p:nvSpPr>
          <p:cNvPr id="429" name="Google Shape;429;p21"/>
          <p:cNvSpPr/>
          <p:nvPr/>
        </p:nvSpPr>
        <p:spPr>
          <a:xfrm>
            <a:off x="2476500" y="5810250"/>
            <a:ext cx="7239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Поддержки химических пространств всё же могут частично перекрываться</a:t>
            </a:r>
            <a:endParaRPr/>
          </a:p>
        </p:txBody>
      </p:sp>
      <p:sp>
        <p:nvSpPr>
          <p:cNvPr id="430" name="Google Shape;430;p21"/>
          <p:cNvSpPr/>
          <p:nvPr/>
        </p:nvSpPr>
        <p:spPr>
          <a:xfrm>
            <a:off x="609600" y="6400800"/>
            <a:ext cx="10953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[9] Mailoa et al., 2023</a:t>
            </a:r>
            <a:r>
              <a:rPr lang="en-US" sz="1125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[10] Yoshizawa et al., 2025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A33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2"/>
          <p:cNvSpPr/>
          <p:nvPr/>
        </p:nvSpPr>
        <p:spPr>
          <a:xfrm>
            <a:off x="609600" y="381000"/>
            <a:ext cx="10572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Вычислительная цель и зона неопределённости</a:t>
            </a:r>
            <a:endParaRPr/>
          </a:p>
        </p:txBody>
      </p:sp>
      <p:sp>
        <p:nvSpPr>
          <p:cNvPr id="437" name="Google Shape;437;p22"/>
          <p:cNvSpPr/>
          <p:nvPr/>
        </p:nvSpPr>
        <p:spPr>
          <a:xfrm>
            <a:off x="609600" y="1238250"/>
            <a:ext cx="1124100" cy="47700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11144250" y="447675"/>
            <a:ext cx="495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A88CFF"/>
                </a:solidFill>
                <a:latin typeface="Verdana"/>
                <a:ea typeface="Verdana"/>
                <a:cs typeface="Verdana"/>
                <a:sym typeface="Verdana"/>
              </a:rPr>
              <a:t>20</a:t>
            </a:r>
            <a:endParaRPr/>
          </a:p>
        </p:txBody>
      </p:sp>
      <p:sp>
        <p:nvSpPr>
          <p:cNvPr id="439" name="Google Shape;439;p22"/>
          <p:cNvSpPr/>
          <p:nvPr/>
        </p:nvSpPr>
        <p:spPr>
          <a:xfrm>
            <a:off x="2381250" y="1285875"/>
            <a:ext cx="7429500" cy="723900"/>
          </a:xfrm>
          <a:prstGeom prst="roundRect">
            <a:avLst>
              <a:gd fmla="val 10526" name="adj"/>
            </a:avLst>
          </a:prstGeom>
          <a:solidFill>
            <a:srgbClr val="0D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2552700" y="1362075"/>
            <a:ext cx="7086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x ~ p_θ(x | y^A ∈ Ω_A, y^B ∈ Ω_B)</a:t>
            </a: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3048000" y="2162175"/>
            <a:ext cx="6096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F27D72"/>
                </a:solidFill>
                <a:latin typeface="Verdana"/>
                <a:ea typeface="Verdana"/>
                <a:cs typeface="Verdana"/>
                <a:sym typeface="Verdana"/>
              </a:rPr>
              <a:t>Совместные метки (y^A, y^B) для одного x почти не наблюдаются</a:t>
            </a:r>
            <a:endParaRPr b="1" sz="1550">
              <a:solidFill>
                <a:srgbClr val="F27D7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42" name="Google Shape;442;p22"/>
          <p:cNvSpPr/>
          <p:nvPr/>
        </p:nvSpPr>
        <p:spPr>
          <a:xfrm>
            <a:off x="476250" y="3381375"/>
            <a:ext cx="1619400" cy="552600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Генератор</a:t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2190750" y="3476625"/>
            <a:ext cx="571500" cy="3238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8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/>
          <p:nvPr/>
        </p:nvSpPr>
        <p:spPr>
          <a:xfrm>
            <a:off x="2857500" y="3238500"/>
            <a:ext cx="1524000" cy="838200"/>
          </a:xfrm>
          <a:prstGeom prst="rect">
            <a:avLst/>
          </a:prstGeom>
          <a:solidFill>
            <a:srgbClr val="FFC8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валидность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и синтез</a:t>
            </a:r>
            <a:endParaRPr/>
          </a:p>
        </p:txBody>
      </p:sp>
      <p:sp>
        <p:nvSpPr>
          <p:cNvPr id="445" name="Google Shape;445;p22"/>
          <p:cNvSpPr/>
          <p:nvPr/>
        </p:nvSpPr>
        <p:spPr>
          <a:xfrm>
            <a:off x="4476750" y="3476625"/>
            <a:ext cx="571500" cy="3238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8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2"/>
          <p:cNvSpPr/>
          <p:nvPr/>
        </p:nvSpPr>
        <p:spPr>
          <a:xfrm>
            <a:off x="5143500" y="2905125"/>
            <a:ext cx="1428750" cy="666750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expert 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MOST</a:t>
            </a:r>
            <a:endParaRPr/>
          </a:p>
        </p:txBody>
      </p:sp>
      <p:sp>
        <p:nvSpPr>
          <p:cNvPr id="447" name="Google Shape;447;p22"/>
          <p:cNvSpPr/>
          <p:nvPr/>
        </p:nvSpPr>
        <p:spPr>
          <a:xfrm>
            <a:off x="5143500" y="3857625"/>
            <a:ext cx="1428750" cy="666750"/>
          </a:xfrm>
          <a:prstGeom prst="rect">
            <a:avLst/>
          </a:prstGeom>
          <a:solidFill>
            <a:srgbClr val="1FB6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expert B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UV / skin</a:t>
            </a:r>
            <a:endParaRPr/>
          </a:p>
        </p:txBody>
      </p:sp>
      <p:sp>
        <p:nvSpPr>
          <p:cNvPr id="448" name="Google Shape;448;p22"/>
          <p:cNvSpPr/>
          <p:nvPr/>
        </p:nvSpPr>
        <p:spPr>
          <a:xfrm>
            <a:off x="6715125" y="3476625"/>
            <a:ext cx="666750" cy="3238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8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2"/>
          <p:cNvSpPr/>
          <p:nvPr/>
        </p:nvSpPr>
        <p:spPr>
          <a:xfrm>
            <a:off x="7477125" y="3238500"/>
            <a:ext cx="1619250" cy="838200"/>
          </a:xfrm>
          <a:prstGeom prst="rect">
            <a:avLst/>
          </a:prstGeom>
          <a:solidFill>
            <a:srgbClr val="55D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uncertainty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+ AD</a:t>
            </a:r>
            <a:endParaRPr/>
          </a:p>
        </p:txBody>
      </p:sp>
      <p:sp>
        <p:nvSpPr>
          <p:cNvPr id="450" name="Google Shape;450;p22"/>
          <p:cNvSpPr/>
          <p:nvPr/>
        </p:nvSpPr>
        <p:spPr>
          <a:xfrm>
            <a:off x="9191625" y="3476625"/>
            <a:ext cx="571500" cy="3238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8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2"/>
          <p:cNvSpPr/>
          <p:nvPr/>
        </p:nvSpPr>
        <p:spPr>
          <a:xfrm>
            <a:off x="9858375" y="3238500"/>
            <a:ext cx="1714500" cy="838200"/>
          </a:xfrm>
          <a:prstGeom prst="rect">
            <a:avLst/>
          </a:prstGeom>
          <a:solidFill>
            <a:srgbClr val="FFC8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joint score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или constraints</a:t>
            </a:r>
            <a:endParaRPr/>
          </a:p>
        </p:txBody>
      </p:sp>
      <p:sp>
        <p:nvSpPr>
          <p:cNvPr id="452" name="Google Shape;452;p22"/>
          <p:cNvSpPr/>
          <p:nvPr/>
        </p:nvSpPr>
        <p:spPr>
          <a:xfrm>
            <a:off x="1524000" y="5191125"/>
            <a:ext cx="9144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A88CFF"/>
                </a:solidFill>
                <a:latin typeface="Verdana"/>
                <a:ea typeface="Verdana"/>
                <a:cs typeface="Verdana"/>
                <a:sym typeface="Verdana"/>
              </a:rPr>
              <a:t>missing labels  ·  imbalance  ·  domain shift  ·  возможное пустое пересечение</a:t>
            </a:r>
            <a:endParaRPr/>
          </a:p>
        </p:txBody>
      </p:sp>
      <p:sp>
        <p:nvSpPr>
          <p:cNvPr id="453" name="Google Shape;453;p22"/>
          <p:cNvSpPr/>
          <p:nvPr/>
        </p:nvSpPr>
        <p:spPr>
          <a:xfrm>
            <a:off x="609600" y="6400800"/>
            <a:ext cx="10953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[9] Mailoa et al., 2023</a:t>
            </a:r>
            <a:r>
              <a:rPr lang="en-US" sz="1125">
                <a:solidFill>
                  <a:srgbClr val="A88CFF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[10] Yoshizawa et al., 2025</a:t>
            </a:r>
            <a:r>
              <a:rPr lang="en-US" sz="1125">
                <a:solidFill>
                  <a:srgbClr val="A88CFF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5"/>
              </a:rPr>
              <a:t>[11] Liu et al., 2021</a:t>
            </a:r>
            <a:r>
              <a:rPr lang="en-US" sz="1125">
                <a:solidFill>
                  <a:srgbClr val="A88CFF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6"/>
              </a:rPr>
              <a:t>[12] Brookes et al., 2019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3"/>
          <p:cNvSpPr/>
          <p:nvPr/>
        </p:nvSpPr>
        <p:spPr>
          <a:xfrm>
            <a:off x="609600" y="381000"/>
            <a:ext cx="10572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Архитектуру выбирает команда</a:t>
            </a:r>
            <a:endParaRPr/>
          </a:p>
        </p:txBody>
      </p:sp>
      <p:sp>
        <p:nvSpPr>
          <p:cNvPr id="460" name="Google Shape;460;p23"/>
          <p:cNvSpPr/>
          <p:nvPr/>
        </p:nvSpPr>
        <p:spPr>
          <a:xfrm>
            <a:off x="609600" y="1028700"/>
            <a:ext cx="1123950" cy="47625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3"/>
          <p:cNvSpPr/>
          <p:nvPr/>
        </p:nvSpPr>
        <p:spPr>
          <a:xfrm>
            <a:off x="11144250" y="447675"/>
            <a:ext cx="495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21</a:t>
            </a:r>
            <a:endParaRPr/>
          </a:p>
        </p:txBody>
      </p:sp>
      <p:sp>
        <p:nvSpPr>
          <p:cNvPr id="462" name="Google Shape;462;p23"/>
          <p:cNvSpPr/>
          <p:nvPr/>
        </p:nvSpPr>
        <p:spPr>
          <a:xfrm>
            <a:off x="762000" y="1428750"/>
            <a:ext cx="3048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6D42E8"/>
                </a:solidFill>
                <a:latin typeface="Verdana"/>
                <a:ea typeface="Verdana"/>
                <a:cs typeface="Verdana"/>
                <a:sym typeface="Verdana"/>
              </a:rPr>
              <a:t>Генератор</a:t>
            </a:r>
            <a:endParaRPr/>
          </a:p>
        </p:txBody>
      </p:sp>
      <p:sp>
        <p:nvSpPr>
          <p:cNvPr id="463" name="Google Shape;463;p23"/>
          <p:cNvSpPr/>
          <p:nvPr/>
        </p:nvSpPr>
        <p:spPr>
          <a:xfrm>
            <a:off x="714375" y="1952625"/>
            <a:ext cx="3476625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13263A"/>
              </a:buClr>
              <a:buSzPts val="1575"/>
              <a:buFont typeface="Verdana"/>
              <a:buChar char="•"/>
            </a:pPr>
            <a:r>
              <a:rPr lang="en-US"/>
              <a:t>SMILES RNN или малая language model</a:t>
            </a:r>
            <a:endParaRPr/>
          </a:p>
          <a:p>
            <a:pPr indent="-1143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13263A"/>
              </a:buClr>
              <a:buSzPts val="1575"/>
              <a:buFont typeface="Verdana"/>
              <a:buChar char="•"/>
            </a:pPr>
            <a:r>
              <a:rPr lang="en-US"/>
              <a:t>VAE или fragment-based model</a:t>
            </a:r>
            <a:endParaRPr/>
          </a:p>
          <a:p>
            <a:pPr indent="-1143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13263A"/>
              </a:buClr>
              <a:buSzPts val="1575"/>
              <a:buFont typeface="Verdana"/>
              <a:buChar char="•"/>
            </a:pPr>
            <a:r>
              <a:rPr lang="en-US"/>
              <a:t>genetic algorithm / graph search</a:t>
            </a:r>
            <a:endParaRPr/>
          </a:p>
          <a:p>
            <a:pPr indent="-1143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13263A"/>
              </a:buClr>
              <a:buSzPts val="1575"/>
              <a:buFont typeface="Verdana"/>
              <a:buChar char="•"/>
            </a:pPr>
            <a:r>
              <a:rPr lang="en-US"/>
              <a:t>diffusion / GFlowNet — малые или предобученные</a:t>
            </a:r>
            <a:endParaRPr/>
          </a:p>
          <a:p>
            <a:pPr indent="-1143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13263A"/>
              </a:buClr>
              <a:buSzPts val="1575"/>
              <a:buFont typeface="Verdana"/>
              <a:buChar char="•"/>
            </a:pPr>
            <a:r>
              <a:rPr lang="en-US"/>
              <a:t>pretrained generator + rejection sampling</a:t>
            </a:r>
            <a:endParaRPr/>
          </a:p>
        </p:txBody>
      </p:sp>
      <p:sp>
        <p:nvSpPr>
          <p:cNvPr id="464" name="Google Shape;464;p23"/>
          <p:cNvSpPr/>
          <p:nvPr/>
        </p:nvSpPr>
        <p:spPr>
          <a:xfrm>
            <a:off x="4429125" y="1428750"/>
            <a:ext cx="3048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FB6AA"/>
                </a:solidFill>
                <a:latin typeface="Verdana"/>
                <a:ea typeface="Verdana"/>
                <a:cs typeface="Verdana"/>
                <a:sym typeface="Verdana"/>
              </a:rPr>
              <a:t>Обратная связь</a:t>
            </a:r>
            <a:endParaRPr/>
          </a:p>
        </p:txBody>
      </p:sp>
      <p:sp>
        <p:nvSpPr>
          <p:cNvPr id="465" name="Google Shape;465;p23"/>
          <p:cNvSpPr/>
          <p:nvPr/>
        </p:nvSpPr>
        <p:spPr>
          <a:xfrm>
            <a:off x="4381500" y="1952625"/>
            <a:ext cx="333375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3263A"/>
              </a:buClr>
              <a:buSzPts val="1575"/>
              <a:buFont typeface="Verdana"/>
              <a:buChar char="•"/>
            </a:pPr>
            <a:r>
              <a:rPr lang="en-US" sz="1575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один multitask predictor</a:t>
            </a:r>
            <a:endParaRPr/>
          </a:p>
          <a:p>
            <a:pPr indent="-1143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13263A"/>
              </a:buClr>
              <a:buSzPts val="1575"/>
              <a:buFont typeface="Verdana"/>
              <a:buChar char="•"/>
            </a:pPr>
            <a:r>
              <a:rPr lang="en-US" sz="1575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отдельные property experts</a:t>
            </a:r>
            <a:endParaRPr/>
          </a:p>
          <a:p>
            <a:pPr indent="-1143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13263A"/>
              </a:buClr>
              <a:buSzPts val="1575"/>
              <a:buFont typeface="Verdana"/>
              <a:buChar char="•"/>
            </a:pPr>
            <a:r>
              <a:rPr lang="en-US" sz="1575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QSPR и физические расчёты</a:t>
            </a:r>
            <a:endParaRPr/>
          </a:p>
          <a:p>
            <a:pPr indent="-1143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13263A"/>
              </a:buClr>
              <a:buSzPts val="1575"/>
              <a:buFont typeface="Verdana"/>
              <a:buChar char="•"/>
            </a:pPr>
            <a:r>
              <a:rPr lang="en-US" sz="1575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ограничения без RL</a:t>
            </a:r>
            <a:endParaRPr/>
          </a:p>
          <a:p>
            <a:pPr indent="-1143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13263A"/>
              </a:buClr>
              <a:buSzPts val="1575"/>
              <a:buFont typeface="Verdana"/>
              <a:buChar char="•"/>
            </a:pPr>
            <a:r>
              <a:rPr lang="en-US" sz="1575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post-generation filtering</a:t>
            </a:r>
            <a:endParaRPr/>
          </a:p>
        </p:txBody>
      </p:sp>
      <p:sp>
        <p:nvSpPr>
          <p:cNvPr id="466" name="Google Shape;466;p23"/>
          <p:cNvSpPr/>
          <p:nvPr/>
        </p:nvSpPr>
        <p:spPr>
          <a:xfrm>
            <a:off x="8096250" y="1428750"/>
            <a:ext cx="3048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27D72"/>
                </a:solidFill>
                <a:latin typeface="Verdana"/>
                <a:ea typeface="Verdana"/>
                <a:cs typeface="Verdana"/>
                <a:sym typeface="Verdana"/>
              </a:rPr>
              <a:t>Объединение</a:t>
            </a:r>
            <a:endParaRPr/>
          </a:p>
        </p:txBody>
      </p:sp>
      <p:sp>
        <p:nvSpPr>
          <p:cNvPr id="467" name="Google Shape;467;p23"/>
          <p:cNvSpPr/>
          <p:nvPr/>
        </p:nvSpPr>
        <p:spPr>
          <a:xfrm>
            <a:off x="8048625" y="1952625"/>
            <a:ext cx="333375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3263A"/>
              </a:buClr>
              <a:buSzPts val="1575"/>
              <a:buFont typeface="Verdana"/>
              <a:buChar char="•"/>
            </a:pPr>
            <a:r>
              <a:rPr lang="en-US" sz="1575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Pareto ranking</a:t>
            </a:r>
            <a:endParaRPr/>
          </a:p>
          <a:p>
            <a:pPr indent="-1143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13263A"/>
              </a:buClr>
              <a:buSzPts val="1575"/>
              <a:buFont typeface="Verdana"/>
              <a:buChar char="•"/>
            </a:pPr>
            <a:r>
              <a:rPr lang="en-US" sz="1575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scalarization</a:t>
            </a:r>
            <a:endParaRPr/>
          </a:p>
          <a:p>
            <a:pPr indent="-1143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13263A"/>
              </a:buClr>
              <a:buSzPts val="1575"/>
              <a:buFont typeface="Verdana"/>
              <a:buChar char="•"/>
            </a:pPr>
            <a:r>
              <a:rPr lang="en-US" sz="1575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product или minimum</a:t>
            </a:r>
            <a:endParaRPr/>
          </a:p>
          <a:p>
            <a:pPr indent="-1143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13263A"/>
              </a:buClr>
              <a:buSzPts val="1575"/>
              <a:buFont typeface="Verdana"/>
              <a:buChar char="•"/>
            </a:pPr>
            <a:r>
              <a:rPr lang="en-US" sz="1575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hard / soft constraints</a:t>
            </a:r>
            <a:endParaRPr/>
          </a:p>
          <a:p>
            <a:pPr indent="-1143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13263A"/>
              </a:buClr>
              <a:buSzPts val="1575"/>
              <a:buFont typeface="Verdana"/>
              <a:buChar char="•"/>
            </a:pPr>
            <a:r>
              <a:rPr lang="en-US" sz="1575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последовательная оптимизация</a:t>
            </a:r>
            <a:endParaRPr/>
          </a:p>
        </p:txBody>
      </p:sp>
      <p:sp>
        <p:nvSpPr>
          <p:cNvPr id="468" name="Google Shape;468;p23"/>
          <p:cNvSpPr/>
          <p:nvPr/>
        </p:nvSpPr>
        <p:spPr>
          <a:xfrm>
            <a:off x="1238250" y="5429250"/>
            <a:ext cx="9715500" cy="590550"/>
          </a:xfrm>
          <a:prstGeom prst="roundRect">
            <a:avLst>
              <a:gd fmla="val 12903" name="adj"/>
            </a:avLst>
          </a:prstGeom>
          <a:solidFill>
            <a:srgbClr val="071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3"/>
          <p:cNvSpPr/>
          <p:nvPr/>
        </p:nvSpPr>
        <p:spPr>
          <a:xfrm>
            <a:off x="1476375" y="5524500"/>
            <a:ext cx="9239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Оценивается обоснование выбора и проверка гипотезы, а не сложность нейросети</a:t>
            </a:r>
            <a:endParaRPr/>
          </a:p>
        </p:txBody>
      </p:sp>
      <p:sp>
        <p:nvSpPr>
          <p:cNvPr id="470" name="Google Shape;470;p23"/>
          <p:cNvSpPr/>
          <p:nvPr/>
        </p:nvSpPr>
        <p:spPr>
          <a:xfrm>
            <a:off x="609600" y="6400800"/>
            <a:ext cx="10953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[9] Mailoa et al., 2023</a:t>
            </a:r>
            <a:r>
              <a:rPr lang="en-US" sz="1125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[10] Yoshizawa et al., 2025</a:t>
            </a:r>
            <a:r>
              <a:rPr lang="en-US" sz="1125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5"/>
              </a:rPr>
              <a:t>[11] Liu et al., 2021</a:t>
            </a:r>
            <a:r>
              <a:rPr lang="en-US" sz="1125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6"/>
              </a:rPr>
              <a:t>[12] Brookes et al., 2019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A33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4"/>
          <p:cNvSpPr/>
          <p:nvPr/>
        </p:nvSpPr>
        <p:spPr>
          <a:xfrm>
            <a:off x="609600" y="381000"/>
            <a:ext cx="10572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Минимальный результат за три дня</a:t>
            </a:r>
            <a:endParaRPr/>
          </a:p>
        </p:txBody>
      </p:sp>
      <p:sp>
        <p:nvSpPr>
          <p:cNvPr id="477" name="Google Shape;477;p24"/>
          <p:cNvSpPr/>
          <p:nvPr/>
        </p:nvSpPr>
        <p:spPr>
          <a:xfrm>
            <a:off x="609600" y="1028700"/>
            <a:ext cx="1123950" cy="47625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4"/>
          <p:cNvSpPr/>
          <p:nvPr/>
        </p:nvSpPr>
        <p:spPr>
          <a:xfrm>
            <a:off x="11144250" y="447675"/>
            <a:ext cx="495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A88CFF"/>
                </a:solidFill>
                <a:latin typeface="Verdana"/>
                <a:ea typeface="Verdana"/>
                <a:cs typeface="Verdana"/>
                <a:sym typeface="Verdana"/>
              </a:rPr>
              <a:t>22</a:t>
            </a:r>
            <a:endParaRPr/>
          </a:p>
        </p:txBody>
      </p:sp>
      <p:sp>
        <p:nvSpPr>
          <p:cNvPr id="479" name="Google Shape;479;p24"/>
          <p:cNvSpPr/>
          <p:nvPr/>
        </p:nvSpPr>
        <p:spPr>
          <a:xfrm>
            <a:off x="809625" y="1381125"/>
            <a:ext cx="4476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C845"/>
                </a:solidFill>
                <a:latin typeface="Verdana"/>
                <a:ea typeface="Verdana"/>
                <a:cs typeface="Verdana"/>
                <a:sym typeface="Verdana"/>
              </a:rPr>
              <a:t>Работающий pipeline</a:t>
            </a:r>
            <a:endParaRPr/>
          </a:p>
        </p:txBody>
      </p:sp>
      <p:sp>
        <p:nvSpPr>
          <p:cNvPr id="480" name="Google Shape;480;p24"/>
          <p:cNvSpPr/>
          <p:nvPr/>
        </p:nvSpPr>
        <p:spPr>
          <a:xfrm>
            <a:off x="762000" y="1905000"/>
            <a:ext cx="4857750" cy="300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Verdana"/>
              <a:buChar char="•"/>
            </a:pPr>
            <a:r>
              <a:rPr lang="en-US" sz="165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воспроизводимый генератор валидных структур</a:t>
            </a:r>
            <a:endParaRPr/>
          </a:p>
          <a:p>
            <a:pPr indent="-1143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Verdana"/>
              <a:buChar char="•"/>
            </a:pPr>
            <a:r>
              <a:rPr lang="en-US" sz="165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минимум один простой baseline</a:t>
            </a:r>
            <a:endParaRPr/>
          </a:p>
          <a:p>
            <a:pPr indent="-1143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Verdana"/>
              <a:buChar char="•"/>
            </a:pPr>
            <a:r>
              <a:rPr lang="en-US" sz="165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два блока property evaluators</a:t>
            </a:r>
            <a:endParaRPr/>
          </a:p>
          <a:p>
            <a:pPr indent="-1143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Verdana"/>
              <a:buChar char="•"/>
            </a:pPr>
            <a:r>
              <a:rPr lang="en-US" sz="165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явная функция объединения критериев</a:t>
            </a:r>
            <a:endParaRPr/>
          </a:p>
          <a:p>
            <a:pPr indent="-1143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Verdana"/>
              <a:buChar char="•"/>
            </a:pPr>
            <a:r>
              <a:rPr lang="en-US" sz="165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500–1000 уникальных кандидатов</a:t>
            </a:r>
            <a:endParaRPr/>
          </a:p>
        </p:txBody>
      </p:sp>
      <p:sp>
        <p:nvSpPr>
          <p:cNvPr id="481" name="Google Shape;481;p24"/>
          <p:cNvSpPr/>
          <p:nvPr/>
        </p:nvSpPr>
        <p:spPr>
          <a:xfrm>
            <a:off x="6524625" y="1381125"/>
            <a:ext cx="4095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FB6AA"/>
                </a:solidFill>
                <a:latin typeface="Verdana"/>
                <a:ea typeface="Verdana"/>
                <a:cs typeface="Verdana"/>
                <a:sym typeface="Verdana"/>
              </a:rPr>
              <a:t>Доказательства</a:t>
            </a:r>
            <a:endParaRPr/>
          </a:p>
        </p:txBody>
      </p:sp>
      <p:sp>
        <p:nvSpPr>
          <p:cNvPr id="482" name="Google Shape;482;p24"/>
          <p:cNvSpPr/>
          <p:nvPr/>
        </p:nvSpPr>
        <p:spPr>
          <a:xfrm>
            <a:off x="6477000" y="1905000"/>
            <a:ext cx="4762500" cy="300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Verdana"/>
              <a:buChar char="•"/>
            </a:pPr>
            <a:r>
              <a:rPr lang="en-US" sz="165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joint success rate</a:t>
            </a:r>
            <a:endParaRPr/>
          </a:p>
          <a:p>
            <a:pPr indent="-1143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Verdana"/>
              <a:buChar char="•"/>
            </a:pPr>
            <a:r>
              <a:rPr lang="en-US" sz="165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novelty и diversity</a:t>
            </a:r>
            <a:endParaRPr/>
          </a:p>
          <a:p>
            <a:pPr indent="-1143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Verdana"/>
              <a:buChar char="•"/>
            </a:pPr>
            <a:r>
              <a:rPr lang="en-US" sz="165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синтезируемость или химические фильтры</a:t>
            </a:r>
            <a:endParaRPr/>
          </a:p>
          <a:p>
            <a:pPr indent="-1143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Verdana"/>
              <a:buChar char="•"/>
            </a:pPr>
            <a:r>
              <a:rPr lang="en-US" sz="165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минимум один failure mode</a:t>
            </a:r>
            <a:endParaRPr/>
          </a:p>
          <a:p>
            <a:pPr indent="-1143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Verdana"/>
              <a:buChar char="•"/>
            </a:pPr>
            <a:r>
              <a:rPr lang="en-US" sz="165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seeds, environment и выбор метода</a:t>
            </a:r>
            <a:endParaRPr/>
          </a:p>
        </p:txBody>
      </p:sp>
      <p:sp>
        <p:nvSpPr>
          <p:cNvPr id="483" name="Google Shape;483;p24"/>
          <p:cNvSpPr/>
          <p:nvPr/>
        </p:nvSpPr>
        <p:spPr>
          <a:xfrm>
            <a:off x="1476375" y="5286375"/>
            <a:ext cx="9239250" cy="685800"/>
          </a:xfrm>
          <a:prstGeom prst="roundRect">
            <a:avLst>
              <a:gd fmla="val 11111" name="adj"/>
            </a:avLst>
          </a:prstGeom>
          <a:solidFill>
            <a:srgbClr val="0D2A4A"/>
          </a:solidFill>
          <a:ln cap="flat" cmpd="sng" w="19050">
            <a:solidFill>
              <a:srgbClr val="A8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4"/>
          <p:cNvSpPr/>
          <p:nvPr/>
        </p:nvSpPr>
        <p:spPr>
          <a:xfrm>
            <a:off x="1714500" y="5391150"/>
            <a:ext cx="8763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A88CFF"/>
                </a:solidFill>
                <a:latin typeface="Verdana"/>
                <a:ea typeface="Verdana"/>
                <a:cs typeface="Verdana"/>
                <a:sym typeface="Verdana"/>
              </a:rPr>
              <a:t>Выберите 2–4 операционализируемых свойства. Остальные перенесите в план последующей проверки.</a:t>
            </a:r>
            <a:endParaRPr/>
          </a:p>
        </p:txBody>
      </p:sp>
      <p:sp>
        <p:nvSpPr>
          <p:cNvPr id="485" name="Google Shape;485;p24"/>
          <p:cNvSpPr/>
          <p:nvPr/>
        </p:nvSpPr>
        <p:spPr>
          <a:xfrm>
            <a:off x="609600" y="6400800"/>
            <a:ext cx="10953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[17] Ertl &amp; Schuffenhauer, 2009</a:t>
            </a:r>
            <a:r>
              <a:rPr lang="en-US" sz="1125">
                <a:solidFill>
                  <a:srgbClr val="A88CFF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[18] Brown et al., 2019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5"/>
          <p:cNvSpPr/>
          <p:nvPr/>
        </p:nvSpPr>
        <p:spPr>
          <a:xfrm>
            <a:off x="609600" y="381000"/>
            <a:ext cx="10572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Четыре</a:t>
            </a:r>
            <a:r>
              <a:rPr b="1" lang="en-US" sz="31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 дня и ограниченный вычислительный бюджет</a:t>
            </a:r>
            <a:endParaRPr/>
          </a:p>
        </p:txBody>
      </p:sp>
      <p:sp>
        <p:nvSpPr>
          <p:cNvPr id="492" name="Google Shape;492;p25"/>
          <p:cNvSpPr/>
          <p:nvPr/>
        </p:nvSpPr>
        <p:spPr>
          <a:xfrm>
            <a:off x="609600" y="1228688"/>
            <a:ext cx="1124100" cy="47700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5"/>
          <p:cNvSpPr/>
          <p:nvPr/>
        </p:nvSpPr>
        <p:spPr>
          <a:xfrm>
            <a:off x="11144250" y="447675"/>
            <a:ext cx="495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23</a:t>
            </a:r>
            <a:endParaRPr/>
          </a:p>
        </p:txBody>
      </p:sp>
      <p:sp>
        <p:nvSpPr>
          <p:cNvPr id="494" name="Google Shape;494;p25"/>
          <p:cNvSpPr/>
          <p:nvPr/>
        </p:nvSpPr>
        <p:spPr>
          <a:xfrm>
            <a:off x="714375" y="1571625"/>
            <a:ext cx="3143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6D42E8"/>
                </a:solidFill>
                <a:latin typeface="Verdana"/>
                <a:ea typeface="Verdana"/>
                <a:cs typeface="Verdana"/>
                <a:sym typeface="Verdana"/>
              </a:rPr>
              <a:t>День 1</a:t>
            </a:r>
            <a:endParaRPr/>
          </a:p>
        </p:txBody>
      </p:sp>
      <p:sp>
        <p:nvSpPr>
          <p:cNvPr id="495" name="Google Shape;495;p25"/>
          <p:cNvSpPr/>
          <p:nvPr/>
        </p:nvSpPr>
        <p:spPr>
          <a:xfrm>
            <a:off x="714375" y="2190750"/>
            <a:ext cx="3143250" cy="2000250"/>
          </a:xfrm>
          <a:prstGeom prst="roundRect">
            <a:avLst>
              <a:gd fmla="val 3810" name="adj"/>
            </a:avLst>
          </a:prstGeom>
          <a:solidFill>
            <a:srgbClr val="EAF1F8"/>
          </a:solidFill>
          <a:ln cap="flat" cmpd="sng" w="19050">
            <a:solidFill>
              <a:srgbClr val="6D4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5"/>
          <p:cNvSpPr/>
          <p:nvPr/>
        </p:nvSpPr>
        <p:spPr>
          <a:xfrm>
            <a:off x="952500" y="2476500"/>
            <a:ext cx="266700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данные, split, baseline, evaluators</a:t>
            </a:r>
            <a:endParaRPr/>
          </a:p>
        </p:txBody>
      </p:sp>
      <p:sp>
        <p:nvSpPr>
          <p:cNvPr id="497" name="Google Shape;497;p25"/>
          <p:cNvSpPr/>
          <p:nvPr/>
        </p:nvSpPr>
        <p:spPr>
          <a:xfrm>
            <a:off x="3952875" y="3000375"/>
            <a:ext cx="523875" cy="30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8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5"/>
          <p:cNvSpPr/>
          <p:nvPr/>
        </p:nvSpPr>
        <p:spPr>
          <a:xfrm>
            <a:off x="4572000" y="1571625"/>
            <a:ext cx="3143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FB6AA"/>
                </a:solidFill>
                <a:latin typeface="Verdana"/>
                <a:ea typeface="Verdana"/>
                <a:cs typeface="Verdana"/>
                <a:sym typeface="Verdana"/>
              </a:rPr>
              <a:t>День 2-3</a:t>
            </a:r>
            <a:endParaRPr/>
          </a:p>
        </p:txBody>
      </p:sp>
      <p:sp>
        <p:nvSpPr>
          <p:cNvPr id="499" name="Google Shape;499;p25"/>
          <p:cNvSpPr/>
          <p:nvPr/>
        </p:nvSpPr>
        <p:spPr>
          <a:xfrm>
            <a:off x="4572000" y="2190750"/>
            <a:ext cx="3143250" cy="2000250"/>
          </a:xfrm>
          <a:prstGeom prst="roundRect">
            <a:avLst>
              <a:gd fmla="val 3810" name="adj"/>
            </a:avLst>
          </a:prstGeom>
          <a:solidFill>
            <a:srgbClr val="EAF1F8"/>
          </a:solidFill>
          <a:ln cap="flat" cmpd="sng" w="19050">
            <a:solidFill>
              <a:srgbClr val="1FB6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5"/>
          <p:cNvSpPr/>
          <p:nvPr/>
        </p:nvSpPr>
        <p:spPr>
          <a:xfrm>
            <a:off x="4810125" y="2476500"/>
            <a:ext cx="266700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генератор, joint objective, первые кандидаты</a:t>
            </a:r>
            <a:endParaRPr/>
          </a:p>
        </p:txBody>
      </p:sp>
      <p:sp>
        <p:nvSpPr>
          <p:cNvPr id="501" name="Google Shape;501;p25"/>
          <p:cNvSpPr/>
          <p:nvPr/>
        </p:nvSpPr>
        <p:spPr>
          <a:xfrm>
            <a:off x="7810500" y="3000375"/>
            <a:ext cx="523875" cy="30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8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5"/>
          <p:cNvSpPr/>
          <p:nvPr/>
        </p:nvSpPr>
        <p:spPr>
          <a:xfrm>
            <a:off x="8429625" y="1571625"/>
            <a:ext cx="3143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F27D72"/>
                </a:solidFill>
                <a:latin typeface="Verdana"/>
                <a:ea typeface="Verdana"/>
                <a:cs typeface="Verdana"/>
                <a:sym typeface="Verdana"/>
              </a:rPr>
              <a:t>День 4</a:t>
            </a:r>
            <a:endParaRPr/>
          </a:p>
        </p:txBody>
      </p:sp>
      <p:sp>
        <p:nvSpPr>
          <p:cNvPr id="503" name="Google Shape;503;p25"/>
          <p:cNvSpPr/>
          <p:nvPr/>
        </p:nvSpPr>
        <p:spPr>
          <a:xfrm>
            <a:off x="8429625" y="2190750"/>
            <a:ext cx="3143250" cy="2000250"/>
          </a:xfrm>
          <a:prstGeom prst="roundRect">
            <a:avLst>
              <a:gd fmla="val 3810" name="adj"/>
            </a:avLst>
          </a:prstGeom>
          <a:solidFill>
            <a:srgbClr val="EAF1F8"/>
          </a:solidFill>
          <a:ln cap="flat" cmpd="sng" w="19050">
            <a:solidFill>
              <a:srgbClr val="F27D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5"/>
          <p:cNvSpPr/>
          <p:nvPr/>
        </p:nvSpPr>
        <p:spPr>
          <a:xfrm>
            <a:off x="8667750" y="2476500"/>
            <a:ext cx="266700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абляции, failure analysis</a:t>
            </a:r>
            <a:endParaRPr/>
          </a:p>
        </p:txBody>
      </p:sp>
      <p:sp>
        <p:nvSpPr>
          <p:cNvPr id="505" name="Google Shape;505;p25"/>
          <p:cNvSpPr/>
          <p:nvPr/>
        </p:nvSpPr>
        <p:spPr>
          <a:xfrm>
            <a:off x="2000250" y="4619625"/>
            <a:ext cx="81915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3263A"/>
              </a:buClr>
              <a:buSzPts val="1650"/>
              <a:buFont typeface="Verdana"/>
              <a:buChar char="•"/>
            </a:pPr>
            <a:r>
              <a:rPr lang="en-US" sz="1650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CPU или одна доступная GPU</a:t>
            </a:r>
            <a:endParaRPr/>
          </a:p>
          <a:p>
            <a:pPr indent="-1143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13263A"/>
              </a:buClr>
              <a:buSzPts val="1650"/>
              <a:buFont typeface="Verdana"/>
              <a:buChar char="•"/>
            </a:pPr>
            <a:r>
              <a:rPr lang="en-US" sz="1650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2– 12 часов обучения (важно подобрать архитектуру)</a:t>
            </a:r>
            <a:endParaRPr/>
          </a:p>
          <a:p>
            <a:pPr indent="-1143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13263A"/>
              </a:buClr>
              <a:buSzPts val="1650"/>
              <a:buFont typeface="Verdana"/>
              <a:buChar char="•"/>
            </a:pPr>
            <a:r>
              <a:rPr lang="en-US" sz="1650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дорогой TD-DFT только для малого top-набора (so-so)</a:t>
            </a:r>
            <a:endParaRPr/>
          </a:p>
          <a:p>
            <a:pPr indent="-1143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13263A"/>
              </a:buClr>
              <a:buSzPts val="1650"/>
              <a:buFont typeface="Verdana"/>
              <a:buChar char="•"/>
            </a:pPr>
            <a:r>
              <a:rPr lang="en-US" sz="1650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запуск одной командой или одним notebook</a:t>
            </a:r>
            <a:endParaRPr/>
          </a:p>
        </p:txBody>
      </p:sp>
      <p:sp>
        <p:nvSpPr>
          <p:cNvPr id="506" name="Google Shape;506;p25"/>
          <p:cNvSpPr/>
          <p:nvPr/>
        </p:nvSpPr>
        <p:spPr>
          <a:xfrm>
            <a:off x="609600" y="6400800"/>
            <a:ext cx="10953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[9] Mailoa et al., 2023</a:t>
            </a:r>
            <a:r>
              <a:rPr lang="en-US" sz="1125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[12] Brookes et al., 2019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6"/>
          <p:cNvSpPr/>
          <p:nvPr/>
        </p:nvSpPr>
        <p:spPr>
          <a:xfrm>
            <a:off x="609600" y="381000"/>
            <a:ext cx="10572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Рубрика оценки: 100 баллов</a:t>
            </a:r>
            <a:endParaRPr/>
          </a:p>
        </p:txBody>
      </p:sp>
      <p:sp>
        <p:nvSpPr>
          <p:cNvPr id="513" name="Google Shape;513;p26"/>
          <p:cNvSpPr/>
          <p:nvPr/>
        </p:nvSpPr>
        <p:spPr>
          <a:xfrm>
            <a:off x="609600" y="1028700"/>
            <a:ext cx="1123950" cy="47625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6"/>
          <p:cNvSpPr/>
          <p:nvPr/>
        </p:nvSpPr>
        <p:spPr>
          <a:xfrm>
            <a:off x="11144250" y="447675"/>
            <a:ext cx="495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24</a:t>
            </a:r>
            <a:endParaRPr/>
          </a:p>
        </p:txBody>
      </p:sp>
      <p:graphicFrame>
        <p:nvGraphicFramePr>
          <p:cNvPr id="515" name="Google Shape;515;p26"/>
          <p:cNvGraphicFramePr/>
          <p:nvPr/>
        </p:nvGraphicFramePr>
        <p:xfrm>
          <a:off x="161925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{48AB86FB-4ECD-4009-B68B-419C96E9FB99}</a:tableStyleId>
              </a:tblPr>
              <a:tblGrid>
                <a:gridCol w="7620000"/>
                <a:gridCol w="1333500"/>
              </a:tblGrid>
              <a:tr h="402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50"/>
                        <a:buFont typeface="Verdana"/>
                        <a:buNone/>
                      </a:pPr>
                      <a:r>
                        <a:rPr b="1" lang="en-US" sz="135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Компонент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71A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50"/>
                        <a:buFont typeface="Verdana"/>
                        <a:buNone/>
                      </a:pPr>
                      <a:r>
                        <a:rPr b="1" lang="en-US" sz="135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Баллы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71A33"/>
                    </a:solidFill>
                  </a:tcPr>
                </a:tc>
              </a:tr>
              <a:tr h="402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200"/>
                        <a:buFont typeface="Verdana"/>
                        <a:buNone/>
                      </a:pPr>
                      <a:r>
                        <a:rPr b="0" lang="en-US" sz="1200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Анализ данных и постановки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200"/>
                        <a:buFont typeface="Verdana"/>
                        <a:buNone/>
                      </a:pPr>
                      <a:r>
                        <a:rPr b="1" lang="en-US" sz="1200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02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200"/>
                        <a:buFont typeface="Verdana"/>
                        <a:buNone/>
                      </a:pPr>
                      <a:r>
                        <a:rPr b="0" lang="en-US" sz="1200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Обоснование генератора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200"/>
                        <a:buFont typeface="Verdana"/>
                        <a:buNone/>
                      </a:pPr>
                      <a:r>
                        <a:rPr b="1" lang="en-US" sz="1200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C"/>
                    </a:solidFill>
                  </a:tcPr>
                </a:tc>
              </a:tr>
              <a:tr h="402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200"/>
                        <a:buFont typeface="Verdana"/>
                        <a:buNone/>
                      </a:pPr>
                      <a:r>
                        <a:rPr b="0" lang="en-US" sz="1200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Работоспособность и воспроизводимость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200"/>
                        <a:buFont typeface="Verdana"/>
                        <a:buNone/>
                      </a:pPr>
                      <a:r>
                        <a:rPr b="1" lang="en-US" sz="1200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02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200"/>
                        <a:buFont typeface="Verdana"/>
                        <a:buNone/>
                      </a:pPr>
                      <a:r>
                        <a:rPr b="0" lang="en-US" sz="1200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Работа с несколькими критериями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200"/>
                        <a:buFont typeface="Verdana"/>
                        <a:buNone/>
                      </a:pPr>
                      <a:r>
                        <a:rPr b="1" lang="en-US" sz="1200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C"/>
                    </a:solidFill>
                  </a:tcPr>
                </a:tc>
              </a:tr>
              <a:tr h="402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200"/>
                        <a:buFont typeface="Verdana"/>
                        <a:buNone/>
                      </a:pPr>
                      <a:r>
                        <a:rPr b="0" lang="en-US" sz="1200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Validity, uniqueness, novelty, diversity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200"/>
                        <a:buFont typeface="Verdana"/>
                        <a:buNone/>
                      </a:pPr>
                      <a:r>
                        <a:rPr b="1" lang="en-US" sz="1200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02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200"/>
                        <a:buFont typeface="Verdana"/>
                        <a:buNone/>
                      </a:pPr>
                      <a:r>
                        <a:rPr b="0" lang="en-US" sz="1200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Joint success и сравнение с baseline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200"/>
                        <a:buFont typeface="Verdana"/>
                        <a:buNone/>
                      </a:pPr>
                      <a:r>
                        <a:rPr b="1" lang="en-US" sz="1200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C"/>
                    </a:solidFill>
                  </a:tcPr>
                </a:tc>
              </a:tr>
              <a:tr h="402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200"/>
                        <a:buFont typeface="Verdana"/>
                        <a:buNone/>
                      </a:pPr>
                      <a:r>
                        <a:rPr b="0" lang="en-US" sz="1200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Синтезируемость и химическая правдоподобность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200"/>
                        <a:buFont typeface="Verdana"/>
                        <a:buNone/>
                      </a:pPr>
                      <a:r>
                        <a:rPr b="1" lang="en-US" sz="1200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02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200"/>
                        <a:buFont typeface="Verdana"/>
                        <a:buNone/>
                      </a:pPr>
                      <a:r>
                        <a:rPr b="0" lang="en-US" sz="1200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Uncertainty и applicability domain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200"/>
                        <a:buFont typeface="Verdana"/>
                        <a:buNone/>
                      </a:pPr>
                      <a:r>
                        <a:rPr b="1" lang="en-US" sz="1200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C"/>
                    </a:solidFill>
                  </a:tcPr>
                </a:tc>
              </a:tr>
              <a:tr h="402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200"/>
                        <a:buFont typeface="Verdana"/>
                        <a:buNone/>
                      </a:pPr>
                      <a:r>
                        <a:rPr b="0" lang="en-US" sz="1200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Абляции и анализ ошибок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200"/>
                        <a:buFont typeface="Verdana"/>
                        <a:buNone/>
                      </a:pPr>
                      <a:r>
                        <a:rPr b="1" lang="en-US" sz="1200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02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200"/>
                        <a:buFont typeface="Verdana"/>
                        <a:buNone/>
                      </a:pPr>
                      <a:r>
                        <a:rPr b="0" lang="en-US" sz="1200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Научное объяснение и защита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63A"/>
                        </a:buClr>
                        <a:buSzPts val="1200"/>
                        <a:buFont typeface="Verdana"/>
                        <a:buNone/>
                      </a:pPr>
                      <a:r>
                        <a:rPr b="1" lang="en-US" sz="1200">
                          <a:solidFill>
                            <a:srgbClr val="13263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516" name="Google Shape;516;p26"/>
          <p:cNvSpPr/>
          <p:nvPr/>
        </p:nvSpPr>
        <p:spPr>
          <a:xfrm>
            <a:off x="2524125" y="5857875"/>
            <a:ext cx="7143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F27D72"/>
                </a:solidFill>
                <a:latin typeface="Verdana"/>
                <a:ea typeface="Verdana"/>
                <a:cs typeface="Verdana"/>
                <a:sym typeface="Verdana"/>
              </a:rPr>
              <a:t>Красивый интерфейс не компенсирует некорректную проверку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7"/>
          <p:cNvSpPr/>
          <p:nvPr/>
        </p:nvSpPr>
        <p:spPr>
          <a:xfrm>
            <a:off x="609600" y="381000"/>
            <a:ext cx="10572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Абляции превращают генерацию в исследование</a:t>
            </a:r>
            <a:endParaRPr/>
          </a:p>
        </p:txBody>
      </p:sp>
      <p:sp>
        <p:nvSpPr>
          <p:cNvPr id="523" name="Google Shape;523;p27"/>
          <p:cNvSpPr/>
          <p:nvPr/>
        </p:nvSpPr>
        <p:spPr>
          <a:xfrm flipH="1" rot="10800000">
            <a:off x="609600" y="1051351"/>
            <a:ext cx="1123800" cy="137100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7"/>
          <p:cNvSpPr/>
          <p:nvPr/>
        </p:nvSpPr>
        <p:spPr>
          <a:xfrm>
            <a:off x="11144250" y="447675"/>
            <a:ext cx="495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25</a:t>
            </a:r>
            <a:endParaRPr/>
          </a:p>
        </p:txBody>
      </p:sp>
      <p:sp>
        <p:nvSpPr>
          <p:cNvPr id="525" name="Google Shape;525;p27"/>
          <p:cNvSpPr/>
          <p:nvPr/>
        </p:nvSpPr>
        <p:spPr>
          <a:xfrm>
            <a:off x="762000" y="138112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6D42E8"/>
                </a:solidFill>
                <a:latin typeface="Verdana"/>
                <a:ea typeface="Verdana"/>
                <a:cs typeface="Verdana"/>
                <a:sym typeface="Verdana"/>
              </a:rPr>
              <a:t>Минимум две проверки</a:t>
            </a:r>
            <a:endParaRPr/>
          </a:p>
        </p:txBody>
      </p:sp>
      <p:sp>
        <p:nvSpPr>
          <p:cNvPr id="526" name="Google Shape;526;p27"/>
          <p:cNvSpPr/>
          <p:nvPr/>
        </p:nvSpPr>
        <p:spPr>
          <a:xfrm>
            <a:off x="714375" y="1905000"/>
            <a:ext cx="5000625" cy="319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3263A"/>
              </a:buClr>
              <a:buSzPts val="1575"/>
              <a:buFont typeface="Verdana"/>
              <a:buChar char="•"/>
            </a:pPr>
            <a:r>
              <a:rPr lang="en-US" sz="1575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без одного property expert</a:t>
            </a:r>
            <a:endParaRPr/>
          </a:p>
          <a:p>
            <a:pPr indent="-1143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13263A"/>
              </a:buClr>
              <a:buSzPts val="1575"/>
              <a:buFont typeface="Verdana"/>
              <a:buChar char="•"/>
            </a:pPr>
            <a:r>
              <a:rPr lang="en-US" sz="1575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другая функция объединения</a:t>
            </a:r>
            <a:endParaRPr/>
          </a:p>
          <a:p>
            <a:pPr indent="-1143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13263A"/>
              </a:buClr>
              <a:buSzPts val="1575"/>
              <a:buFont typeface="Verdana"/>
              <a:buChar char="•"/>
            </a:pPr>
            <a:r>
              <a:rPr lang="en-US" sz="1575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без uncertainty или AD filter</a:t>
            </a:r>
            <a:endParaRPr/>
          </a:p>
          <a:p>
            <a:pPr indent="-1143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13263A"/>
              </a:buClr>
              <a:buSzPts val="1575"/>
              <a:buFont typeface="Verdana"/>
              <a:buChar char="•"/>
            </a:pPr>
            <a:r>
              <a:rPr lang="en-US" sz="1575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генератор против мутационного baseline</a:t>
            </a:r>
            <a:endParaRPr/>
          </a:p>
          <a:p>
            <a:pPr indent="-1143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13263A"/>
              </a:buClr>
              <a:buSzPts val="1575"/>
              <a:buFont typeface="Verdana"/>
              <a:buChar char="•"/>
            </a:pPr>
            <a:r>
              <a:rPr lang="en-US" sz="1575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joint optimization против последовательного фильтра</a:t>
            </a:r>
            <a:endParaRPr/>
          </a:p>
          <a:p>
            <a:pPr indent="-1143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13263A"/>
              </a:buClr>
              <a:buSzPts val="1575"/>
              <a:buFont typeface="Verdana"/>
              <a:buChar char="•"/>
            </a:pPr>
            <a:r>
              <a:rPr lang="en-US" sz="1575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random split против scaffold split</a:t>
            </a:r>
            <a:endParaRPr/>
          </a:p>
        </p:txBody>
      </p:sp>
      <p:sp>
        <p:nvSpPr>
          <p:cNvPr id="527" name="Google Shape;527;p27"/>
          <p:cNvSpPr/>
          <p:nvPr/>
        </p:nvSpPr>
        <p:spPr>
          <a:xfrm>
            <a:off x="6667500" y="1381125"/>
            <a:ext cx="4000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FB6AA"/>
                </a:solidFill>
                <a:latin typeface="Verdana"/>
                <a:ea typeface="Verdana"/>
                <a:cs typeface="Verdana"/>
                <a:sym typeface="Verdana"/>
              </a:rPr>
              <a:t>Допустимые выводы</a:t>
            </a:r>
            <a:endParaRPr/>
          </a:p>
        </p:txBody>
      </p:sp>
      <p:sp>
        <p:nvSpPr>
          <p:cNvPr id="528" name="Google Shape;528;p27"/>
          <p:cNvSpPr/>
          <p:nvPr/>
        </p:nvSpPr>
        <p:spPr>
          <a:xfrm>
            <a:off x="6762750" y="2095500"/>
            <a:ext cx="552450" cy="552450"/>
          </a:xfrm>
          <a:prstGeom prst="ellipse">
            <a:avLst/>
          </a:prstGeom>
          <a:solidFill>
            <a:srgbClr val="2A9D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7"/>
          <p:cNvSpPr/>
          <p:nvPr/>
        </p:nvSpPr>
        <p:spPr>
          <a:xfrm>
            <a:off x="6762750" y="2143125"/>
            <a:ext cx="552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530" name="Google Shape;530;p27"/>
          <p:cNvSpPr/>
          <p:nvPr/>
        </p:nvSpPr>
        <p:spPr>
          <a:xfrm>
            <a:off x="7524750" y="2076450"/>
            <a:ext cx="333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устойчивое пересечение</a:t>
            </a:r>
            <a:endParaRPr/>
          </a:p>
        </p:txBody>
      </p:sp>
      <p:sp>
        <p:nvSpPr>
          <p:cNvPr id="531" name="Google Shape;531;p27"/>
          <p:cNvSpPr/>
          <p:nvPr/>
        </p:nvSpPr>
        <p:spPr>
          <a:xfrm>
            <a:off x="6762750" y="3095625"/>
            <a:ext cx="552450" cy="552450"/>
          </a:xfrm>
          <a:prstGeom prst="ellipse">
            <a:avLst/>
          </a:prstGeom>
          <a:solidFill>
            <a:srgbClr val="F27D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7"/>
          <p:cNvSpPr/>
          <p:nvPr/>
        </p:nvSpPr>
        <p:spPr>
          <a:xfrm>
            <a:off x="6762750" y="3143250"/>
            <a:ext cx="552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533" name="Google Shape;533;p27"/>
          <p:cNvSpPr/>
          <p:nvPr/>
        </p:nvSpPr>
        <p:spPr>
          <a:xfrm>
            <a:off x="7524750" y="3076575"/>
            <a:ext cx="333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пересечение только вне AD</a:t>
            </a:r>
            <a:endParaRPr/>
          </a:p>
        </p:txBody>
      </p:sp>
      <p:sp>
        <p:nvSpPr>
          <p:cNvPr id="534" name="Google Shape;534;p27"/>
          <p:cNvSpPr/>
          <p:nvPr/>
        </p:nvSpPr>
        <p:spPr>
          <a:xfrm>
            <a:off x="6762750" y="4095750"/>
            <a:ext cx="552450" cy="552450"/>
          </a:xfrm>
          <a:prstGeom prst="ellipse">
            <a:avLst/>
          </a:prstGeom>
          <a:solidFill>
            <a:srgbClr val="556A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7"/>
          <p:cNvSpPr/>
          <p:nvPr/>
        </p:nvSpPr>
        <p:spPr>
          <a:xfrm>
            <a:off x="6762750" y="4143375"/>
            <a:ext cx="552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536" name="Google Shape;536;p27"/>
          <p:cNvSpPr/>
          <p:nvPr/>
        </p:nvSpPr>
        <p:spPr>
          <a:xfrm>
            <a:off x="7524750" y="4076700"/>
            <a:ext cx="333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3263A"/>
                </a:solidFill>
                <a:latin typeface="Verdana"/>
                <a:ea typeface="Verdana"/>
                <a:cs typeface="Verdana"/>
                <a:sym typeface="Verdana"/>
              </a:rPr>
              <a:t>пересечение не найдено</a:t>
            </a:r>
            <a:endParaRPr/>
          </a:p>
        </p:txBody>
      </p:sp>
      <p:sp>
        <p:nvSpPr>
          <p:cNvPr id="537" name="Google Shape;537;p27"/>
          <p:cNvSpPr/>
          <p:nvPr/>
        </p:nvSpPr>
        <p:spPr>
          <a:xfrm>
            <a:off x="6334125" y="5095875"/>
            <a:ext cx="4953000" cy="790575"/>
          </a:xfrm>
          <a:prstGeom prst="roundRect">
            <a:avLst>
              <a:gd fmla="val 9639" name="adj"/>
            </a:avLst>
          </a:prstGeom>
          <a:solidFill>
            <a:srgbClr val="071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7"/>
          <p:cNvSpPr/>
          <p:nvPr/>
        </p:nvSpPr>
        <p:spPr>
          <a:xfrm>
            <a:off x="6572250" y="5219700"/>
            <a:ext cx="4476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Отрицательный результат ценен, если причина показана данными</a:t>
            </a:r>
            <a:endParaRPr/>
          </a:p>
        </p:txBody>
      </p:sp>
      <p:sp>
        <p:nvSpPr>
          <p:cNvPr id="539" name="Google Shape;539;p27"/>
          <p:cNvSpPr/>
          <p:nvPr/>
        </p:nvSpPr>
        <p:spPr>
          <a:xfrm>
            <a:off x="609600" y="6400800"/>
            <a:ext cx="10953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[9] Mailoa et al., 2023</a:t>
            </a:r>
            <a:r>
              <a:rPr lang="en-US" sz="1125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[10] Yoshizawa et al., 2025</a:t>
            </a:r>
            <a:r>
              <a:rPr lang="en-US" sz="1125">
                <a:solidFill>
                  <a:srgbClr val="556A7C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lang="en-US" sz="1125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5"/>
              </a:rPr>
              <a:t>[11] Liu et al., 2021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8"/>
          <p:cNvSpPr/>
          <p:nvPr/>
        </p:nvSpPr>
        <p:spPr>
          <a:xfrm>
            <a:off x="609600" y="381000"/>
            <a:ext cx="10572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Источники I: MOST и фотохимия</a:t>
            </a:r>
            <a:endParaRPr b="1" sz="3000">
              <a:solidFill>
                <a:srgbClr val="071A3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46" name="Google Shape;546;p28"/>
          <p:cNvSpPr/>
          <p:nvPr/>
        </p:nvSpPr>
        <p:spPr>
          <a:xfrm>
            <a:off x="609600" y="1028700"/>
            <a:ext cx="1123950" cy="47625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8"/>
          <p:cNvSpPr/>
          <p:nvPr/>
        </p:nvSpPr>
        <p:spPr>
          <a:xfrm>
            <a:off x="11144250" y="447675"/>
            <a:ext cx="495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46678"/>
                </a:solidFill>
                <a:latin typeface="Verdana"/>
                <a:ea typeface="Verdana"/>
                <a:cs typeface="Verdana"/>
                <a:sym typeface="Verdana"/>
              </a:rPr>
              <a:t>26</a:t>
            </a:r>
            <a:endParaRPr b="1" sz="1050">
              <a:solidFill>
                <a:srgbClr val="54667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48" name="Google Shape;548;p28"/>
          <p:cNvSpPr txBox="1"/>
          <p:nvPr/>
        </p:nvSpPr>
        <p:spPr>
          <a:xfrm>
            <a:off x="666750" y="1323975"/>
            <a:ext cx="108585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[1]</a:t>
            </a:r>
            <a:r>
              <a:rPr lang="en-US" sz="15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 Orrego-Hernández J., Dreos A., Moth-Poulsen K. Engineering of Norbornadiene/Quadricyclane Photoswitches for Molecular Solar Thermal Energy Storage Applications. Accounts of Chemical Research 53 (2020). DOI: 10.1021/acs.accounts.0c00235. </a:t>
            </a:r>
            <a:r>
              <a:rPr lang="en-US" sz="15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https://doi.org/10.1021/acs.accounts.0c00235</a:t>
            </a:r>
            <a:endParaRPr sz="1550" u="sng">
              <a:solidFill>
                <a:srgbClr val="00A5A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49" name="Google Shape;549;p28"/>
          <p:cNvSpPr txBox="1"/>
          <p:nvPr/>
        </p:nvSpPr>
        <p:spPr>
          <a:xfrm>
            <a:off x="666750" y="2447925"/>
            <a:ext cx="108585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[2]</a:t>
            </a:r>
            <a:r>
              <a:rPr lang="en-US" sz="15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 Mansø M. et al. Molecular solar thermal energy storage in photoswitch oligomers increases energy densities and storage times. Nature Communications 9, 1945 (2018). DOI: 10.1038/s41467-018-04230-8. </a:t>
            </a:r>
            <a:r>
              <a:rPr lang="en-US" sz="15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https://doi.org/10.1038/s41467-018-04230-8</a:t>
            </a:r>
            <a:endParaRPr sz="1550" u="sng">
              <a:solidFill>
                <a:srgbClr val="00A5A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50" name="Google Shape;550;p28"/>
          <p:cNvSpPr txBox="1"/>
          <p:nvPr/>
        </p:nvSpPr>
        <p:spPr>
          <a:xfrm>
            <a:off x="666750" y="3571875"/>
            <a:ext cx="108585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[3]</a:t>
            </a:r>
            <a:r>
              <a:rPr lang="en-US" sz="15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 Jorner K. et al. Unraveling factors leading to efficient norbornadiene–quadricyclane molecular solar-thermal energy storage systems. Journal of Materials Chemistry A 5 (2017). DOI: 10.1039/C7TA04259K. </a:t>
            </a:r>
            <a:r>
              <a:rPr lang="en-US" sz="15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https://doi.org/10.1039/C7TA04259K</a:t>
            </a:r>
            <a:endParaRPr sz="1550" u="sng">
              <a:solidFill>
                <a:srgbClr val="00A5A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51" name="Google Shape;551;p28"/>
          <p:cNvSpPr txBox="1"/>
          <p:nvPr/>
        </p:nvSpPr>
        <p:spPr>
          <a:xfrm>
            <a:off x="666750" y="4695825"/>
            <a:ext cx="108585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[16]</a:t>
            </a:r>
            <a:r>
              <a:rPr lang="en-US" sz="15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 Braslavsky S. E. et al. Glossary of terms used in photochemistry, 3rd edition. Pure and Applied Chemistry 83, 931–1014 (2011). DOI: 10.1351/PAC-REC-09-09-36. </a:t>
            </a:r>
            <a:r>
              <a:rPr lang="en-US" sz="15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https://doi.org/10.1351/PAC-REC-09-09-36</a:t>
            </a:r>
            <a:endParaRPr sz="1550" u="sng">
              <a:solidFill>
                <a:srgbClr val="00A5A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52" name="Google Shape;552;p28"/>
          <p:cNvSpPr txBox="1"/>
          <p:nvPr/>
        </p:nvSpPr>
        <p:spPr>
          <a:xfrm>
            <a:off x="1047750" y="6191250"/>
            <a:ext cx="10096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50">
                <a:solidFill>
                  <a:srgbClr val="546170"/>
                </a:solidFill>
                <a:latin typeface="Verdana"/>
                <a:ea typeface="Verdana"/>
                <a:cs typeface="Verdana"/>
                <a:sym typeface="Verdana"/>
              </a:rPr>
              <a:t>Первичные работы и терминология для MOST, NBD–QC, quantum yield и PSS</a:t>
            </a:r>
            <a:endParaRPr i="1" sz="1150">
              <a:solidFill>
                <a:srgbClr val="54617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9"/>
          <p:cNvSpPr/>
          <p:nvPr/>
        </p:nvSpPr>
        <p:spPr>
          <a:xfrm>
            <a:off x="609600" y="381000"/>
            <a:ext cx="105729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Источники II: солнцезащита и стандарты</a:t>
            </a:r>
            <a:endParaRPr b="1" sz="3000">
              <a:solidFill>
                <a:srgbClr val="071A3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59" name="Google Shape;559;p29"/>
          <p:cNvSpPr/>
          <p:nvPr/>
        </p:nvSpPr>
        <p:spPr>
          <a:xfrm>
            <a:off x="609600" y="1028700"/>
            <a:ext cx="1124100" cy="47700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9"/>
          <p:cNvSpPr/>
          <p:nvPr/>
        </p:nvSpPr>
        <p:spPr>
          <a:xfrm>
            <a:off x="11144250" y="447675"/>
            <a:ext cx="495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46678"/>
                </a:solidFill>
                <a:latin typeface="Verdana"/>
                <a:ea typeface="Verdana"/>
                <a:cs typeface="Verdana"/>
                <a:sym typeface="Verdana"/>
              </a:rPr>
              <a:t>27</a:t>
            </a:r>
            <a:endParaRPr b="1" sz="1050">
              <a:solidFill>
                <a:srgbClr val="54667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61" name="Google Shape;561;p29"/>
          <p:cNvSpPr txBox="1"/>
          <p:nvPr/>
        </p:nvSpPr>
        <p:spPr>
          <a:xfrm>
            <a:off x="666750" y="1162050"/>
            <a:ext cx="10858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[4]</a:t>
            </a:r>
            <a:r>
              <a:rPr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 Diffey B. et al. In vitro assessment of the broad-spectrum ultraviolet protection of sunscreen products. Journal of the American Academy of Dermatology 43 (2000). DOI: 10.1067/mjd.2000.109291. </a:t>
            </a:r>
            <a:r>
              <a:rPr lang="en-US" sz="13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https://doi.org/10.1067/mjd.2000.109291</a:t>
            </a:r>
            <a:endParaRPr sz="1350" u="sng">
              <a:solidFill>
                <a:srgbClr val="00A5A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62" name="Google Shape;562;p29"/>
          <p:cNvSpPr txBox="1"/>
          <p:nvPr/>
        </p:nvSpPr>
        <p:spPr>
          <a:xfrm>
            <a:off x="666750" y="1962150"/>
            <a:ext cx="10858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[5]</a:t>
            </a:r>
            <a:r>
              <a:rPr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 Matts P. J. et al. The COLIPA in vitro UVA method: a standard and reproducible measure of sunscreen UVA protection. International Journal of Cosmetic Science 32 (2010). DOI: 10.1111/j.1468-2494.2009.00542.x. </a:t>
            </a:r>
            <a:r>
              <a:rPr lang="en-US" sz="13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https://doi.org/10.1111/j.1468-2494.2009.00542.x</a:t>
            </a:r>
            <a:endParaRPr sz="1350" u="sng">
              <a:solidFill>
                <a:srgbClr val="00A5A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63" name="Google Shape;563;p29"/>
          <p:cNvSpPr txBox="1"/>
          <p:nvPr/>
        </p:nvSpPr>
        <p:spPr>
          <a:xfrm>
            <a:off x="666750" y="2762250"/>
            <a:ext cx="10858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[6]</a:t>
            </a:r>
            <a:r>
              <a:rPr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 Nitulescu G. et al. Ultraviolet Filters for Cosmetic Applications. Cosmetics 10, 101 (2023). DOI: 10.3390/cosmetics10040101. </a:t>
            </a:r>
            <a:r>
              <a:rPr lang="en-US" sz="13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https://doi.org/10.3390/cosmetics10040101</a:t>
            </a:r>
            <a:endParaRPr sz="1350" u="sng">
              <a:solidFill>
                <a:srgbClr val="00A5A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64" name="Google Shape;564;p29"/>
          <p:cNvSpPr txBox="1"/>
          <p:nvPr/>
        </p:nvSpPr>
        <p:spPr>
          <a:xfrm>
            <a:off x="666750" y="3562350"/>
            <a:ext cx="10858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[7]</a:t>
            </a:r>
            <a:r>
              <a:rPr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 ISO 24444:2019. Cosmetics — Sun protection test methods — In vivo determination of the sun protection factor (SPF). International Organization for Standardization. </a:t>
            </a:r>
            <a:r>
              <a:rPr lang="en-US" sz="13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https://www.iso.org/standard/72250.html</a:t>
            </a:r>
            <a:endParaRPr sz="1350" u="sng">
              <a:solidFill>
                <a:srgbClr val="00A5A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65" name="Google Shape;565;p29"/>
          <p:cNvSpPr txBox="1"/>
          <p:nvPr/>
        </p:nvSpPr>
        <p:spPr>
          <a:xfrm>
            <a:off x="666750" y="4362450"/>
            <a:ext cx="10858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[8]</a:t>
            </a:r>
            <a:r>
              <a:rPr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 ISO 24443:2021. Cosmetics — Determination of sunscreen UVA photoprotection in vitro. International Organization for Standardization. </a:t>
            </a:r>
            <a:r>
              <a:rPr lang="en-US" sz="13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https://www.iso.org/standard/75059.html</a:t>
            </a:r>
            <a:endParaRPr sz="1350" u="sng">
              <a:solidFill>
                <a:srgbClr val="00A5A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66" name="Google Shape;566;p29"/>
          <p:cNvSpPr txBox="1"/>
          <p:nvPr/>
        </p:nvSpPr>
        <p:spPr>
          <a:xfrm>
            <a:off x="666750" y="5162550"/>
            <a:ext cx="10858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[20]</a:t>
            </a:r>
            <a:r>
              <a:rPr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 U.S. Food and Drug Administration. 21 CFR §201.327(j): Broad spectrum test procedure; critical wavelength ≥ 370 nm. eCFR. </a:t>
            </a:r>
            <a:r>
              <a:rPr lang="en-US" sz="13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https://www.ecfr.gov/current/title-21/section-201.327</a:t>
            </a:r>
            <a:endParaRPr sz="1350" u="sng">
              <a:solidFill>
                <a:srgbClr val="00A5A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67" name="Google Shape;567;p29"/>
          <p:cNvSpPr txBox="1"/>
          <p:nvPr/>
        </p:nvSpPr>
        <p:spPr>
          <a:xfrm>
            <a:off x="1047750" y="6191250"/>
            <a:ext cx="10096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50">
                <a:solidFill>
                  <a:srgbClr val="546170"/>
                </a:solidFill>
                <a:latin typeface="Verdana"/>
                <a:ea typeface="Verdana"/>
                <a:cs typeface="Verdana"/>
                <a:sym typeface="Verdana"/>
              </a:rPr>
              <a:t>ISO — официальные страницы изданий; перед лабораторной работой проверьте amendments</a:t>
            </a:r>
            <a:endParaRPr i="1" sz="1150">
              <a:solidFill>
                <a:srgbClr val="54617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0"/>
          <p:cNvSpPr/>
          <p:nvPr/>
        </p:nvSpPr>
        <p:spPr>
          <a:xfrm>
            <a:off x="609600" y="381000"/>
            <a:ext cx="10572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Источники III: генеративный дизайн</a:t>
            </a:r>
            <a:endParaRPr b="1" sz="3000">
              <a:solidFill>
                <a:srgbClr val="071A3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74" name="Google Shape;574;p30"/>
          <p:cNvSpPr/>
          <p:nvPr/>
        </p:nvSpPr>
        <p:spPr>
          <a:xfrm>
            <a:off x="609600" y="1028700"/>
            <a:ext cx="1123950" cy="47625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30"/>
          <p:cNvSpPr/>
          <p:nvPr/>
        </p:nvSpPr>
        <p:spPr>
          <a:xfrm>
            <a:off x="11144250" y="447675"/>
            <a:ext cx="495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46678"/>
                </a:solidFill>
                <a:latin typeface="Verdana"/>
                <a:ea typeface="Verdana"/>
                <a:cs typeface="Verdana"/>
                <a:sym typeface="Verdana"/>
              </a:rPr>
              <a:t>28</a:t>
            </a:r>
            <a:endParaRPr b="1" sz="1050">
              <a:solidFill>
                <a:srgbClr val="54667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76" name="Google Shape;576;p30"/>
          <p:cNvSpPr txBox="1"/>
          <p:nvPr/>
        </p:nvSpPr>
        <p:spPr>
          <a:xfrm>
            <a:off x="666750" y="1162050"/>
            <a:ext cx="10858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[9]</a:t>
            </a:r>
            <a:r>
              <a:rPr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 Mailoa J. P. et al. Multi-constraint molecular generation using sparsely labelled training data. Digital Discovery 2 (2023). DOI: 10.1039/D3DD00064H. </a:t>
            </a:r>
            <a:r>
              <a:rPr lang="en-US" sz="13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https://doi.org/10.1039/D3DD00064H</a:t>
            </a:r>
            <a:endParaRPr sz="1350" u="sng">
              <a:solidFill>
                <a:srgbClr val="00A5A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77" name="Google Shape;577;p30"/>
          <p:cNvSpPr txBox="1"/>
          <p:nvPr/>
        </p:nvSpPr>
        <p:spPr>
          <a:xfrm>
            <a:off x="666750" y="1962150"/>
            <a:ext cx="10858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[10]</a:t>
            </a:r>
            <a:r>
              <a:rPr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 Yoshizawa T. et al. A data-driven generative strategy to avoid reward hacking in multi-objective molecular design. Nature Communications 16 (2025). DOI: 10.1038/s41467-025-57582-3. </a:t>
            </a:r>
            <a:r>
              <a:rPr lang="en-US" sz="13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https://doi.org/10.1038/s41467-025-57582-3</a:t>
            </a:r>
            <a:endParaRPr sz="1350" u="sng">
              <a:solidFill>
                <a:srgbClr val="00A5A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78" name="Google Shape;578;p30"/>
          <p:cNvSpPr txBox="1"/>
          <p:nvPr/>
        </p:nvSpPr>
        <p:spPr>
          <a:xfrm>
            <a:off x="666750" y="2762250"/>
            <a:ext cx="10858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[11]</a:t>
            </a:r>
            <a:r>
              <a:rPr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 Liu X. et al. DrugEx v2: de novo design of drug molecules by Pareto-based multi-objective reinforcement learning. Journal of Cheminformatics 13 (2021). DOI: 10.1186/s13321-021-00561-9. </a:t>
            </a:r>
            <a:r>
              <a:rPr lang="en-US" sz="13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https://doi.org/10.1186/s13321-021-00561-9</a:t>
            </a:r>
            <a:endParaRPr sz="1350" u="sng">
              <a:solidFill>
                <a:srgbClr val="00A5A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79" name="Google Shape;579;p30"/>
          <p:cNvSpPr txBox="1"/>
          <p:nvPr/>
        </p:nvSpPr>
        <p:spPr>
          <a:xfrm>
            <a:off x="666750" y="3562350"/>
            <a:ext cx="10858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[12]</a:t>
            </a:r>
            <a:r>
              <a:rPr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 Brookes D., Park H., Listgarten J. Conditioning by Adaptive Sampling for Robust Design. Proceedings of ICML 2019, PMLR 97, 773–782. </a:t>
            </a:r>
            <a:r>
              <a:rPr lang="en-US" sz="13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https://proceedings.mlr.press/v97/brookes19a.html</a:t>
            </a:r>
            <a:endParaRPr sz="1350" u="sng">
              <a:solidFill>
                <a:srgbClr val="00A5A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80" name="Google Shape;580;p30"/>
          <p:cNvSpPr txBox="1"/>
          <p:nvPr/>
        </p:nvSpPr>
        <p:spPr>
          <a:xfrm>
            <a:off x="666750" y="4362450"/>
            <a:ext cx="10858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[17]</a:t>
            </a:r>
            <a:r>
              <a:rPr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 Ertl P., Schuffenhauer A. Estimation of synthetic accessibility score of drug-like molecules based on molecular complexity and fragment contributions. Journal of Cheminformatics 1, 8 (2009). DOI: 10.1186/1758-2946-1-8. </a:t>
            </a:r>
            <a:r>
              <a:rPr lang="en-US" sz="13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https://doi.org/10.1186/1758-2946-1-8</a:t>
            </a:r>
            <a:endParaRPr sz="1350" u="sng">
              <a:solidFill>
                <a:srgbClr val="00A5A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81" name="Google Shape;581;p30"/>
          <p:cNvSpPr txBox="1"/>
          <p:nvPr/>
        </p:nvSpPr>
        <p:spPr>
          <a:xfrm>
            <a:off x="666750" y="5162550"/>
            <a:ext cx="10858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[18]</a:t>
            </a:r>
            <a:r>
              <a:rPr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 Brown N. et al. GuacaMol: Benchmarking Models for de Novo Molecular Design. Journal of Chemical Information and Modeling 59, 1096–1108 (2019). DOI: 10.1021/acs.jcim.8b00839. </a:t>
            </a:r>
            <a:r>
              <a:rPr lang="en-US" sz="13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https://doi.org/10.1021/acs.jcim.8b00839</a:t>
            </a:r>
            <a:endParaRPr sz="1350" u="sng">
              <a:solidFill>
                <a:srgbClr val="00A5A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82" name="Google Shape;582;p30"/>
          <p:cNvSpPr txBox="1"/>
          <p:nvPr/>
        </p:nvSpPr>
        <p:spPr>
          <a:xfrm>
            <a:off x="1047750" y="6191250"/>
            <a:ext cx="10096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50">
                <a:solidFill>
                  <a:srgbClr val="546170"/>
                </a:solidFill>
                <a:latin typeface="Verdana"/>
                <a:ea typeface="Verdana"/>
                <a:cs typeface="Verdana"/>
                <a:sym typeface="Verdana"/>
              </a:rPr>
              <a:t>Сравнивайте методы при одинаковых данных, бюджете и протоколе оценки</a:t>
            </a:r>
            <a:endParaRPr i="1" sz="1150">
              <a:solidFill>
                <a:srgbClr val="54617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1"/>
          <p:cNvSpPr/>
          <p:nvPr/>
        </p:nvSpPr>
        <p:spPr>
          <a:xfrm>
            <a:off x="609600" y="381000"/>
            <a:ext cx="105729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Источники IV: безопасность, данные и вклад</a:t>
            </a:r>
            <a:endParaRPr b="1" sz="3000">
              <a:solidFill>
                <a:srgbClr val="071A3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89" name="Google Shape;589;p31"/>
          <p:cNvSpPr/>
          <p:nvPr/>
        </p:nvSpPr>
        <p:spPr>
          <a:xfrm>
            <a:off x="609600" y="1028700"/>
            <a:ext cx="1124100" cy="47700"/>
          </a:xfrm>
          <a:prstGeom prst="rect">
            <a:avLst/>
          </a:prstGeom>
          <a:solidFill>
            <a:srgbClr val="6D42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1"/>
          <p:cNvSpPr/>
          <p:nvPr/>
        </p:nvSpPr>
        <p:spPr>
          <a:xfrm>
            <a:off x="11144250" y="447675"/>
            <a:ext cx="495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46678"/>
                </a:solidFill>
                <a:latin typeface="Verdana"/>
                <a:ea typeface="Verdana"/>
                <a:cs typeface="Verdana"/>
                <a:sym typeface="Verdana"/>
              </a:rPr>
              <a:t>29</a:t>
            </a:r>
            <a:endParaRPr b="1" sz="1050">
              <a:solidFill>
                <a:srgbClr val="54667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91" name="Google Shape;591;p31"/>
          <p:cNvSpPr txBox="1"/>
          <p:nvPr/>
        </p:nvSpPr>
        <p:spPr>
          <a:xfrm>
            <a:off x="666750" y="1162050"/>
            <a:ext cx="10858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[13]</a:t>
            </a:r>
            <a:r>
              <a:rPr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 Martinez R. M., Rosado C., Baby A. R. Methods for cutaneous penetration assessment of organic UV filters: a review. Biomedical and Biopharmaceutical Research 20 (2023). DOI: 10.19277/bbr.20.1.307. </a:t>
            </a:r>
            <a:r>
              <a:rPr lang="en-US" sz="13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https://doi.org/10.19277/bbr.20.1.307</a:t>
            </a:r>
            <a:endParaRPr sz="1350" u="sng">
              <a:solidFill>
                <a:srgbClr val="00A5A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92" name="Google Shape;592;p31"/>
          <p:cNvSpPr txBox="1"/>
          <p:nvPr/>
        </p:nvSpPr>
        <p:spPr>
          <a:xfrm>
            <a:off x="666750" y="1962150"/>
            <a:ext cx="10858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[14]</a:t>
            </a:r>
            <a:r>
              <a:rPr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 OECD. Test No. 428: Skin Absorption: In Vitro Method. OECD Guidelines for the Testing of Chemicals, Section 4. DOI: 10.1787/9789264071087-en. </a:t>
            </a:r>
            <a:r>
              <a:rPr lang="en-US" sz="13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https://doi.org/10.1787/9789264071087-en</a:t>
            </a:r>
            <a:endParaRPr sz="1350" u="sng">
              <a:solidFill>
                <a:srgbClr val="00A5A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93" name="Google Shape;593;p31"/>
          <p:cNvSpPr txBox="1"/>
          <p:nvPr/>
        </p:nvSpPr>
        <p:spPr>
          <a:xfrm>
            <a:off x="666750" y="2762250"/>
            <a:ext cx="10858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[15]</a:t>
            </a:r>
            <a:r>
              <a:rPr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 OECD. Test No. 432: In Vitro 3T3 NRU Phototoxicity Test. OECD Guidelines for the Testing of Chemicals, Section 4. DOI: 10.1787/9789264071162-en. </a:t>
            </a:r>
            <a:r>
              <a:rPr lang="en-US" sz="13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https://doi.org/10.1787/9789264071162-en</a:t>
            </a:r>
            <a:endParaRPr sz="1350" u="sng">
              <a:solidFill>
                <a:srgbClr val="00A5A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94" name="Google Shape;594;p31"/>
          <p:cNvSpPr txBox="1"/>
          <p:nvPr/>
        </p:nvSpPr>
        <p:spPr>
          <a:xfrm>
            <a:off x="666750" y="3562350"/>
            <a:ext cx="10858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[19]</a:t>
            </a:r>
            <a:r>
              <a:rPr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 NISO. Contributor Roles Taxonomy (CRediT). Official taxonomy and implementation resources. </a:t>
            </a:r>
            <a:r>
              <a:rPr lang="en-US" sz="13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https://credit.niso.org/</a:t>
            </a:r>
            <a:endParaRPr sz="1350" u="sng">
              <a:solidFill>
                <a:srgbClr val="00A5A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95" name="Google Shape;595;p31"/>
          <p:cNvSpPr txBox="1"/>
          <p:nvPr/>
        </p:nvSpPr>
        <p:spPr>
          <a:xfrm>
            <a:off x="666750" y="4362450"/>
            <a:ext cx="10858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[21]</a:t>
            </a:r>
            <a:r>
              <a:rPr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 PubChem. Norbornadiene, CID 8473. Compound Summary. Accessed 2026-09-13. </a:t>
            </a:r>
            <a:r>
              <a:rPr lang="en-US" sz="13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https://pubchem.ncbi.nlm.nih.gov/compound/8473</a:t>
            </a:r>
            <a:endParaRPr sz="1350" u="sng">
              <a:solidFill>
                <a:srgbClr val="00A5A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96" name="Google Shape;596;p31"/>
          <p:cNvSpPr txBox="1"/>
          <p:nvPr/>
        </p:nvSpPr>
        <p:spPr>
          <a:xfrm>
            <a:off x="666750" y="5162550"/>
            <a:ext cx="10858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[22]</a:t>
            </a:r>
            <a:r>
              <a:rPr lang="en-US" sz="1350">
                <a:solidFill>
                  <a:srgbClr val="071A33"/>
                </a:solidFill>
                <a:latin typeface="Verdana"/>
                <a:ea typeface="Verdana"/>
                <a:cs typeface="Verdana"/>
                <a:sym typeface="Verdana"/>
              </a:rPr>
              <a:t> PubChem. Quadricyclane, CID 78961. Compound Summary. Accessed 2026-09-13. </a:t>
            </a:r>
            <a:r>
              <a:rPr lang="en-US" sz="1350" u="sng">
                <a:solidFill>
                  <a:srgbClr val="00A5A0"/>
                </a:solidFill>
                <a:latin typeface="Verdana"/>
                <a:ea typeface="Verdana"/>
                <a:cs typeface="Verdana"/>
                <a:sym typeface="Verdana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https://pubchem.ncbi.nlm.nih.gov/compound/78961</a:t>
            </a:r>
            <a:endParaRPr sz="1350" u="sng">
              <a:solidFill>
                <a:srgbClr val="00A5A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97" name="Google Shape;597;p31"/>
          <p:cNvSpPr txBox="1"/>
          <p:nvPr/>
        </p:nvSpPr>
        <p:spPr>
          <a:xfrm>
            <a:off x="1047750" y="6191250"/>
            <a:ext cx="10096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50">
                <a:solidFill>
                  <a:srgbClr val="546170"/>
                </a:solidFill>
                <a:latin typeface="Verdana"/>
                <a:ea typeface="Verdana"/>
                <a:cs typeface="Verdana"/>
                <a:sym typeface="Verdana"/>
              </a:rPr>
              <a:t>Для структур и наборов данных фиксируйте CID, дату доступа, лицензию и происхождение</a:t>
            </a:r>
            <a:endParaRPr i="1" sz="1150">
              <a:solidFill>
                <a:srgbClr val="54617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